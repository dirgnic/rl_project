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40"/>
  </p:notesMasterIdLst>
  <p:sldIdLst>
    <p:sldId id="332" r:id="rId5"/>
    <p:sldId id="259" r:id="rId6"/>
    <p:sldId id="260" r:id="rId7"/>
    <p:sldId id="315" r:id="rId8"/>
    <p:sldId id="416" r:id="rId9"/>
    <p:sldId id="417" r:id="rId10"/>
    <p:sldId id="418" r:id="rId11"/>
    <p:sldId id="419" r:id="rId12"/>
    <p:sldId id="420" r:id="rId13"/>
    <p:sldId id="323" r:id="rId14"/>
    <p:sldId id="350" r:id="rId15"/>
    <p:sldId id="400" r:id="rId16"/>
    <p:sldId id="401" r:id="rId17"/>
    <p:sldId id="409" r:id="rId18"/>
    <p:sldId id="406" r:id="rId19"/>
    <p:sldId id="408" r:id="rId20"/>
    <p:sldId id="410" r:id="rId21"/>
    <p:sldId id="363" r:id="rId22"/>
    <p:sldId id="414" r:id="rId23"/>
    <p:sldId id="377" r:id="rId24"/>
    <p:sldId id="356" r:id="rId25"/>
    <p:sldId id="413" r:id="rId26"/>
    <p:sldId id="415" r:id="rId27"/>
    <p:sldId id="421" r:id="rId28"/>
    <p:sldId id="422" r:id="rId29"/>
    <p:sldId id="423" r:id="rId30"/>
    <p:sldId id="425" r:id="rId31"/>
    <p:sldId id="426" r:id="rId32"/>
    <p:sldId id="427" r:id="rId33"/>
    <p:sldId id="428" r:id="rId34"/>
    <p:sldId id="429" r:id="rId35"/>
    <p:sldId id="353" r:id="rId36"/>
    <p:sldId id="430" r:id="rId37"/>
    <p:sldId id="411" r:id="rId38"/>
    <p:sldId id="284" r:id="rId3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1"/>
    </p:embeddedFont>
    <p:embeddedFont>
      <p:font typeface="Merriweather" pitchFamily="2" charset="77"/>
      <p:regular r:id="rId42"/>
      <p:bold r:id="rId43"/>
      <p:italic r:id="rId44"/>
      <p:boldItalic r:id="rId45"/>
    </p:embeddedFont>
    <p:embeddedFont>
      <p:font typeface="Merriweather Black" panose="00000A00000000000000" pitchFamily="2" charset="77"/>
      <p:bold r:id="rId46"/>
      <p:italic r:id="rId47"/>
      <p:boldItalic r:id="rId48"/>
    </p:embeddedFont>
    <p:embeddedFont>
      <p:font typeface="Spectral" panose="02020502060000000000" pitchFamily="18" charset="77"/>
      <p:regular r:id="rId49"/>
      <p:bold r:id="rId50"/>
      <p:italic r:id="rId51"/>
      <p:boldItalic r:id="rId52"/>
    </p:embeddedFont>
    <p:embeddedFont>
      <p:font typeface="Spectral Light" panose="020F050202020403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2B902-2256-0B0D-D34C-7ED48DB08920}" v="5" dt="2024-10-14T14:05:48.908"/>
    <p1510:client id="{5EEFF53E-3516-410E-8561-C8AD52FF1C81}" v="6" dt="2024-10-14T09:41:26.793"/>
    <p1510:client id="{C7B931E5-A5E3-8F0B-C9F4-EF2F88C80BC1}" v="3" dt="2024-10-15T13:28:03.520"/>
    <p1510:client id="{F55B5ACE-0A63-4840-9732-7CC127368099}" v="4" dt="2024-10-14T09:49:41.020"/>
  </p1510:revLst>
</p1510:revInfo>
</file>

<file path=ppt/tableStyles.xml><?xml version="1.0" encoding="utf-8"?>
<a:tblStyleLst xmlns:a="http://schemas.openxmlformats.org/drawingml/2006/main" def="{8E613FF8-4EB2-4734-8CC8-9E79C4818E73}">
  <a:tblStyle styleId="{8E613FF8-4EB2-4734-8CC8-9E79C4818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2"/>
    <p:restoredTop sz="94635"/>
  </p:normalViewPr>
  <p:slideViewPr>
    <p:cSldViewPr snapToGrid="0">
      <p:cViewPr varScale="1">
        <p:scale>
          <a:sx n="173" d="100"/>
          <a:sy n="173" d="100"/>
        </p:scale>
        <p:origin x="184" y="6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6/11/relationships/changesInfo" Target="changesInfos/changesInfo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8" Type="http://schemas.openxmlformats.org/officeDocument/2006/relationships/slide" Target="slides/slide4.xml"/><Relationship Id="rId51" Type="http://schemas.openxmlformats.org/officeDocument/2006/relationships/font" Target="fonts/font1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9.fntdata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MARIA VULTUR" userId="S::sofia.vultur@s.unibuc.ro::6c7158df-1e76-4490-a8ad-29ce599c3ba2" providerId="AD" clId="Web-{63731BED-BB5E-4001-9779-484298527014}"/>
    <pc:docChg chg="modSld">
      <pc:chgData name="SOFIA MARIA VULTUR" userId="S::sofia.vultur@s.unibuc.ro::6c7158df-1e76-4490-a8ad-29ce599c3ba2" providerId="AD" clId="Web-{63731BED-BB5E-4001-9779-484298527014}" dt="2023-02-05T21:40:26.292" v="0" actId="1076"/>
      <pc:docMkLst>
        <pc:docMk/>
      </pc:docMkLst>
      <pc:sldChg chg="modSp">
        <pc:chgData name="SOFIA MARIA VULTUR" userId="S::sofia.vultur@s.unibuc.ro::6c7158df-1e76-4490-a8ad-29ce599c3ba2" providerId="AD" clId="Web-{63731BED-BB5E-4001-9779-484298527014}" dt="2023-02-05T21:40:26.292" v="0" actId="1076"/>
        <pc:sldMkLst>
          <pc:docMk/>
          <pc:sldMk cId="3261636102" sldId="327"/>
        </pc:sldMkLst>
        <pc:spChg chg="mod">
          <ac:chgData name="SOFIA MARIA VULTUR" userId="S::sofia.vultur@s.unibuc.ro::6c7158df-1e76-4490-a8ad-29ce599c3ba2" providerId="AD" clId="Web-{63731BED-BB5E-4001-9779-484298527014}" dt="2023-02-05T21:40:26.292" v="0" actId="1076"/>
          <ac:spMkLst>
            <pc:docMk/>
            <pc:sldMk cId="3261636102" sldId="327"/>
            <ac:spMk id="3" creationId="{291B36AB-2BC4-428A-6357-8AA069095418}"/>
          </ac:spMkLst>
        </pc:spChg>
      </pc:sldChg>
    </pc:docChg>
  </pc:docChgLst>
  <pc:docChgLst>
    <pc:chgData name="STEFAN IORDACHE" userId="S::stefan.iordache10@s.unibuc.ro::9dd8811d-5cc1-4677-ba15-8e8defdbcdf9" providerId="AD" clId="Web-{5EEFF53E-3516-410E-8561-C8AD52FF1C81}"/>
    <pc:docChg chg="modSld">
      <pc:chgData name="STEFAN IORDACHE" userId="S::stefan.iordache10@s.unibuc.ro::9dd8811d-5cc1-4677-ba15-8e8defdbcdf9" providerId="AD" clId="Web-{5EEFF53E-3516-410E-8561-C8AD52FF1C81}" dt="2024-10-14T09:41:26.793" v="4" actId="1076"/>
      <pc:docMkLst>
        <pc:docMk/>
      </pc:docMkLst>
      <pc:sldChg chg="modSp">
        <pc:chgData name="STEFAN IORDACHE" userId="S::stefan.iordache10@s.unibuc.ro::9dd8811d-5cc1-4677-ba15-8e8defdbcdf9" providerId="AD" clId="Web-{5EEFF53E-3516-410E-8561-C8AD52FF1C81}" dt="2024-10-14T09:32:58.386" v="3" actId="20577"/>
        <pc:sldMkLst>
          <pc:docMk/>
          <pc:sldMk cId="0" sldId="256"/>
        </pc:sldMkLst>
        <pc:spChg chg="mod">
          <ac:chgData name="STEFAN IORDACHE" userId="S::stefan.iordache10@s.unibuc.ro::9dd8811d-5cc1-4677-ba15-8e8defdbcdf9" providerId="AD" clId="Web-{5EEFF53E-3516-410E-8561-C8AD52FF1C81}" dt="2024-10-14T09:32:58.386" v="3" actId="20577"/>
          <ac:spMkLst>
            <pc:docMk/>
            <pc:sldMk cId="0" sldId="256"/>
            <ac:spMk id="2080" creationId="{00000000-0000-0000-0000-000000000000}"/>
          </ac:spMkLst>
        </pc:spChg>
      </pc:sldChg>
      <pc:sldChg chg="modSp">
        <pc:chgData name="STEFAN IORDACHE" userId="S::stefan.iordache10@s.unibuc.ro::9dd8811d-5cc1-4677-ba15-8e8defdbcdf9" providerId="AD" clId="Web-{5EEFF53E-3516-410E-8561-C8AD52FF1C81}" dt="2024-10-14T09:41:26.793" v="4" actId="1076"/>
        <pc:sldMkLst>
          <pc:docMk/>
          <pc:sldMk cId="2400012068" sldId="322"/>
        </pc:sldMkLst>
        <pc:spChg chg="mod">
          <ac:chgData name="STEFAN IORDACHE" userId="S::stefan.iordache10@s.unibuc.ro::9dd8811d-5cc1-4677-ba15-8e8defdbcdf9" providerId="AD" clId="Web-{5EEFF53E-3516-410E-8561-C8AD52FF1C81}" dt="2024-10-14T09:41:26.793" v="4" actId="1076"/>
          <ac:spMkLst>
            <pc:docMk/>
            <pc:sldMk cId="2400012068" sldId="322"/>
            <ac:spMk id="2" creationId="{B9CA8832-B04E-3F6F-64C4-188FD1EA8517}"/>
          </ac:spMkLst>
        </pc:spChg>
      </pc:sldChg>
    </pc:docChg>
  </pc:docChgLst>
  <pc:docChgLst>
    <pc:chgData name="MIHAI GRIGORE" userId="S::mihai.grigore1@s.unibuc.ro::d086a1d6-5462-4979-abc6-1c81b0fc9ea8" providerId="AD" clId="Web-{0D22B902-2256-0B0D-D34C-7ED48DB08920}"/>
    <pc:docChg chg="modSld">
      <pc:chgData name="MIHAI GRIGORE" userId="S::mihai.grigore1@s.unibuc.ro::d086a1d6-5462-4979-abc6-1c81b0fc9ea8" providerId="AD" clId="Web-{0D22B902-2256-0B0D-D34C-7ED48DB08920}" dt="2024-10-14T14:05:48.908" v="4" actId="1076"/>
      <pc:docMkLst>
        <pc:docMk/>
      </pc:docMkLst>
      <pc:sldChg chg="modSp">
        <pc:chgData name="MIHAI GRIGORE" userId="S::mihai.grigore1@s.unibuc.ro::d086a1d6-5462-4979-abc6-1c81b0fc9ea8" providerId="AD" clId="Web-{0D22B902-2256-0B0D-D34C-7ED48DB08920}" dt="2024-10-14T14:05:48.908" v="4" actId="1076"/>
        <pc:sldMkLst>
          <pc:docMk/>
          <pc:sldMk cId="3261636102" sldId="327"/>
        </pc:sldMkLst>
        <pc:spChg chg="mod">
          <ac:chgData name="MIHAI GRIGORE" userId="S::mihai.grigore1@s.unibuc.ro::d086a1d6-5462-4979-abc6-1c81b0fc9ea8" providerId="AD" clId="Web-{0D22B902-2256-0B0D-D34C-7ED48DB08920}" dt="2024-10-14T14:05:48.908" v="4" actId="1076"/>
          <ac:spMkLst>
            <pc:docMk/>
            <pc:sldMk cId="3261636102" sldId="327"/>
            <ac:spMk id="3" creationId="{291B36AB-2BC4-428A-6357-8AA069095418}"/>
          </ac:spMkLst>
        </pc:spChg>
      </pc:sldChg>
      <pc:sldChg chg="modSp">
        <pc:chgData name="MIHAI GRIGORE" userId="S::mihai.grigore1@s.unibuc.ro::d086a1d6-5462-4979-abc6-1c81b0fc9ea8" providerId="AD" clId="Web-{0D22B902-2256-0B0D-D34C-7ED48DB08920}" dt="2024-10-14T14:03:22.794" v="2" actId="1076"/>
        <pc:sldMkLst>
          <pc:docMk/>
          <pc:sldMk cId="2574459133" sldId="330"/>
        </pc:sldMkLst>
        <pc:spChg chg="mod">
          <ac:chgData name="MIHAI GRIGORE" userId="S::mihai.grigore1@s.unibuc.ro::d086a1d6-5462-4979-abc6-1c81b0fc9ea8" providerId="AD" clId="Web-{0D22B902-2256-0B0D-D34C-7ED48DB08920}" dt="2024-10-14T14:03:22.794" v="2" actId="1076"/>
          <ac:spMkLst>
            <pc:docMk/>
            <pc:sldMk cId="2574459133" sldId="330"/>
            <ac:spMk id="3" creationId="{291B36AB-2BC4-428A-6357-8AA069095418}"/>
          </ac:spMkLst>
        </pc:spChg>
      </pc:sldChg>
    </pc:docChg>
  </pc:docChgLst>
  <pc:docChgLst>
    <pc:chgData name="STEFAN IORDACHE" userId="S::stefan.iordache10@s.unibuc.ro::9dd8811d-5cc1-4677-ba15-8e8defdbcdf9" providerId="AD" clId="Web-{F55B5ACE-0A63-4840-9732-7CC127368099}"/>
    <pc:docChg chg="delSld modSld">
      <pc:chgData name="STEFAN IORDACHE" userId="S::stefan.iordache10@s.unibuc.ro::9dd8811d-5cc1-4677-ba15-8e8defdbcdf9" providerId="AD" clId="Web-{F55B5ACE-0A63-4840-9732-7CC127368099}" dt="2024-10-14T09:49:41.020" v="3" actId="20577"/>
      <pc:docMkLst>
        <pc:docMk/>
      </pc:docMkLst>
      <pc:sldChg chg="del">
        <pc:chgData name="STEFAN IORDACHE" userId="S::stefan.iordache10@s.unibuc.ro::9dd8811d-5cc1-4677-ba15-8e8defdbcdf9" providerId="AD" clId="Web-{F55B5ACE-0A63-4840-9732-7CC127368099}" dt="2024-10-14T09:43:01.258" v="0"/>
        <pc:sldMkLst>
          <pc:docMk/>
          <pc:sldMk cId="1113113595" sldId="326"/>
        </pc:sldMkLst>
      </pc:sldChg>
      <pc:sldChg chg="modSp">
        <pc:chgData name="STEFAN IORDACHE" userId="S::stefan.iordache10@s.unibuc.ro::9dd8811d-5cc1-4677-ba15-8e8defdbcdf9" providerId="AD" clId="Web-{F55B5ACE-0A63-4840-9732-7CC127368099}" dt="2024-10-14T09:49:41.020" v="3" actId="20577"/>
        <pc:sldMkLst>
          <pc:docMk/>
          <pc:sldMk cId="0" sldId="331"/>
        </pc:sldMkLst>
        <pc:spChg chg="mod">
          <ac:chgData name="STEFAN IORDACHE" userId="S::stefan.iordache10@s.unibuc.ro::9dd8811d-5cc1-4677-ba15-8e8defdbcdf9" providerId="AD" clId="Web-{F55B5ACE-0A63-4840-9732-7CC127368099}" dt="2024-10-14T09:49:41.020" v="3" actId="20577"/>
          <ac:spMkLst>
            <pc:docMk/>
            <pc:sldMk cId="0" sldId="331"/>
            <ac:spMk id="2989" creationId="{00000000-0000-0000-0000-000000000000}"/>
          </ac:spMkLst>
        </pc:spChg>
      </pc:sldChg>
    </pc:docChg>
  </pc:docChgLst>
  <pc:docChgLst>
    <pc:chgData name="OCTAVIAN ANDREI MACELARU" userId="S::octavian-andrei.macelaru@s.unibuc.ro::44fc2c80-4820-461b-97b8-22b51db84c76" providerId="AD" clId="Web-{C7B931E5-A5E3-8F0B-C9F4-EF2F88C80BC1}"/>
    <pc:docChg chg="modSld">
      <pc:chgData name="OCTAVIAN ANDREI MACELARU" userId="S::octavian-andrei.macelaru@s.unibuc.ro::44fc2c80-4820-461b-97b8-22b51db84c76" providerId="AD" clId="Web-{C7B931E5-A5E3-8F0B-C9F4-EF2F88C80BC1}" dt="2024-10-15T13:28:01.598" v="1" actId="20577"/>
      <pc:docMkLst>
        <pc:docMk/>
      </pc:docMkLst>
      <pc:sldChg chg="modSp">
        <pc:chgData name="OCTAVIAN ANDREI MACELARU" userId="S::octavian-andrei.macelaru@s.unibuc.ro::44fc2c80-4820-461b-97b8-22b51db84c76" providerId="AD" clId="Web-{C7B931E5-A5E3-8F0B-C9F4-EF2F88C80BC1}" dt="2024-10-15T13:28:01.598" v="1" actId="20577"/>
        <pc:sldMkLst>
          <pc:docMk/>
          <pc:sldMk cId="0" sldId="260"/>
        </pc:sldMkLst>
        <pc:spChg chg="mod">
          <ac:chgData name="OCTAVIAN ANDREI MACELARU" userId="S::octavian-andrei.macelaru@s.unibuc.ro::44fc2c80-4820-461b-97b8-22b51db84c76" providerId="AD" clId="Web-{C7B931E5-A5E3-8F0B-C9F4-EF2F88C80BC1}" dt="2024-10-15T13:28:01.598" v="1" actId="20577"/>
          <ac:spMkLst>
            <pc:docMk/>
            <pc:sldMk cId="0" sldId="260"/>
            <ac:spMk id="2191" creationId="{00000000-0000-0000-0000-000000000000}"/>
          </ac:spMkLst>
        </pc:spChg>
      </pc:sldChg>
    </pc:docChg>
  </pc:docChgLst>
  <pc:docChgLst>
    <pc:chgData name="IULIAN ROBERT ROMAN" userId="S::iulian.roman@s.unibuc.ro::d336a366-996d-4a57-8b6f-68e4eb3c3f73" providerId="AD" clId="Web-{627CA9EA-00CB-40F5-90A7-35DF55141584}"/>
    <pc:docChg chg="modSld">
      <pc:chgData name="IULIAN ROBERT ROMAN" userId="S::iulian.roman@s.unibuc.ro::d336a366-996d-4a57-8b6f-68e4eb3c3f73" providerId="AD" clId="Web-{627CA9EA-00CB-40F5-90A7-35DF55141584}" dt="2023-05-11T17:05:09.923" v="2" actId="1076"/>
      <pc:docMkLst>
        <pc:docMk/>
      </pc:docMkLst>
      <pc:sldChg chg="modSp">
        <pc:chgData name="IULIAN ROBERT ROMAN" userId="S::iulian.roman@s.unibuc.ro::d336a366-996d-4a57-8b6f-68e4eb3c3f73" providerId="AD" clId="Web-{627CA9EA-00CB-40F5-90A7-35DF55141584}" dt="2023-05-11T17:05:09.923" v="2" actId="1076"/>
        <pc:sldMkLst>
          <pc:docMk/>
          <pc:sldMk cId="2335724577" sldId="321"/>
        </pc:sldMkLst>
        <pc:spChg chg="mod">
          <ac:chgData name="IULIAN ROBERT ROMAN" userId="S::iulian.roman@s.unibuc.ro::d336a366-996d-4a57-8b6f-68e4eb3c3f73" providerId="AD" clId="Web-{627CA9EA-00CB-40F5-90A7-35DF55141584}" dt="2023-05-11T17:05:09.923" v="2" actId="1076"/>
          <ac:spMkLst>
            <pc:docMk/>
            <pc:sldMk cId="2335724577" sldId="321"/>
            <ac:spMk id="2" creationId="{4B1FC6B7-80D2-C09C-7BEC-750E32DD86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131cd8db3c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131cd8db3c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1C8D5815-665A-1F85-BB4F-31BD5BFC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385B2C2A-016D-E64D-E59F-E0830FAD7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F10788B5-688F-4D3E-9065-D1678D6FE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4704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92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095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836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922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1339646ca49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1339646ca49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15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6753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564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101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8E6DAABD-AC40-EF51-F41A-F5634FAE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131cd8db3ce_0_105:notes">
            <a:extLst>
              <a:ext uri="{FF2B5EF4-FFF2-40B4-BE49-F238E27FC236}">
                <a16:creationId xmlns:a16="http://schemas.microsoft.com/office/drawing/2014/main" id="{07C73431-C28F-D5FF-3971-B1BD2F805E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131cd8db3ce_0_105:notes">
            <a:extLst>
              <a:ext uri="{FF2B5EF4-FFF2-40B4-BE49-F238E27FC236}">
                <a16:creationId xmlns:a16="http://schemas.microsoft.com/office/drawing/2014/main" id="{EC57A288-68B0-250F-B402-D91F1E46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143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40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9097D7AA-45A8-15A2-0672-F68D0B28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A134821E-5D6D-5E37-A97A-42D35019A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0353F657-2A50-D869-2AED-F924DC978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3712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>
          <a:extLst>
            <a:ext uri="{FF2B5EF4-FFF2-40B4-BE49-F238E27FC236}">
              <a16:creationId xmlns:a16="http://schemas.microsoft.com/office/drawing/2014/main" id="{70C35CF7-659C-AAD6-F7FE-CDF1E435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>
            <a:extLst>
              <a:ext uri="{FF2B5EF4-FFF2-40B4-BE49-F238E27FC236}">
                <a16:creationId xmlns:a16="http://schemas.microsoft.com/office/drawing/2014/main" id="{84B87873-C0DB-61DE-4CAA-43BACF7C51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>
            <a:extLst>
              <a:ext uri="{FF2B5EF4-FFF2-40B4-BE49-F238E27FC236}">
                <a16:creationId xmlns:a16="http://schemas.microsoft.com/office/drawing/2014/main" id="{3DB286D9-F032-1570-1CD3-274A873A02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4837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228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32c0d347fb_0_17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32c0d347fb_0_17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7410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g132c0d347fb_0_1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5" name="Google Shape;2985;g132c0d347fb_0_1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0" name="Google Shape;30;p2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32" name="Google Shape;3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" name="Google Shape;4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2" name="Google Shape;4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" name="Google Shape;50;p2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1" name="Google Shape;5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" name="Google Shape;5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1" name="Google Shape;6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" name="Google Shape;6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" name="Google Shape;6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" name="Google Shape;6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" name="Google Shape;6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" name="Google Shape;6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" name="Google Shape;6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70" name="Google Shape;70;p2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71" name="Google Shape;71;p2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72" name="Google Shape;72;p2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3" name="Google Shape;73;p2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4" name="Google Shape;74;p2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5" name="Google Shape;75;p2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6" name="Google Shape;76;p2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7" name="Google Shape;77;p2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8" name="Google Shape;78;p2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79" name="Google Shape;79;p2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0" name="Google Shape;80;p2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81" name="Google Shape;81;p2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82" name="Google Shape;82;p2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3" name="Google Shape;83;p2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4" name="Google Shape;84;p2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5" name="Google Shape;85;p2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6" name="Google Shape;86;p2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7" name="Google Shape;87;p2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8" name="Google Shape;88;p2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" name="Google Shape;89;p2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2269900" y="3689800"/>
            <a:ext cx="46059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950250" y="4644614"/>
            <a:ext cx="337500" cy="3291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28133" y="4321796"/>
            <a:ext cx="224700" cy="2190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3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96" name="Google Shape;96;p3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97" name="Google Shape;97;p3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2" name="Google Shape;102;p3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103" name="Google Shape;103;p3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7" name="Google Shape;107;p3"/>
          <p:cNvSpPr txBox="1">
            <a:spLocks noGrp="1"/>
          </p:cNvSpPr>
          <p:nvPr>
            <p:ph type="title" hasCustomPrompt="1"/>
          </p:nvPr>
        </p:nvSpPr>
        <p:spPr>
          <a:xfrm>
            <a:off x="2248150" y="539500"/>
            <a:ext cx="2298300" cy="1143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3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54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subTitle" idx="1"/>
          </p:nvPr>
        </p:nvSpPr>
        <p:spPr>
          <a:xfrm>
            <a:off x="2242297" y="3984875"/>
            <a:ext cx="2298300" cy="58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  <a:latin typeface="Spectral Light"/>
                <a:ea typeface="Spectral Light"/>
                <a:cs typeface="Spectral Light"/>
                <a:sym typeface="Spectral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431076" y="4267148"/>
            <a:ext cx="851140" cy="668466"/>
            <a:chOff x="431076" y="4267148"/>
            <a:chExt cx="851140" cy="668466"/>
          </a:xfrm>
        </p:grpSpPr>
        <p:sp>
          <p:nvSpPr>
            <p:cNvPr id="111" name="Google Shape;111;p3"/>
            <p:cNvSpPr/>
            <p:nvPr/>
          </p:nvSpPr>
          <p:spPr>
            <a:xfrm>
              <a:off x="943815" y="4267148"/>
              <a:ext cx="338400" cy="331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431076" y="4704914"/>
              <a:ext cx="236700" cy="2307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7914990" y="4444025"/>
            <a:ext cx="690064" cy="329108"/>
            <a:chOff x="7740700" y="4100311"/>
            <a:chExt cx="786936" cy="604089"/>
          </a:xfrm>
        </p:grpSpPr>
        <p:grpSp>
          <p:nvGrpSpPr>
            <p:cNvPr id="114" name="Google Shape;114;p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115" name="Google Shape;115;p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" name="Google Shape;117;p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13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614" name="Google Shape;614;p13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15" name="Google Shape;61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16" name="Google Shape;61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7" name="Google Shape;61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8" name="Google Shape;61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19" name="Google Shape;61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0" name="Google Shape;62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1" name="Google Shape;62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2" name="Google Shape;62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3" name="Google Shape;62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4" name="Google Shape;62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25" name="Google Shape;62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26" name="Google Shape;62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7" name="Google Shape;62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8" name="Google Shape;62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29" name="Google Shape;62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0" name="Google Shape;63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1" name="Google Shape;63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2" name="Google Shape;63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3" name="Google Shape;63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34" name="Google Shape;634;p13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635" name="Google Shape;63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36" name="Google Shape;63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7" name="Google Shape;63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8" name="Google Shape;63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39" name="Google Shape;63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0" name="Google Shape;64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1" name="Google Shape;64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2" name="Google Shape;64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3" name="Google Shape;64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4" name="Google Shape;64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45" name="Google Shape;64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46" name="Google Shape;64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7" name="Google Shape;64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8" name="Google Shape;64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49" name="Google Shape;64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0" name="Google Shape;65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1" name="Google Shape;65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2" name="Google Shape;65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3" name="Google Shape;65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54" name="Google Shape;654;p13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55" name="Google Shape;65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56" name="Google Shape;65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7" name="Google Shape;65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8" name="Google Shape;65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59" name="Google Shape;65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0" name="Google Shape;66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1" name="Google Shape;66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2" name="Google Shape;66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3" name="Google Shape;66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4" name="Google Shape;66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65" name="Google Shape;66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66" name="Google Shape;66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7" name="Google Shape;66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8" name="Google Shape;66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69" name="Google Shape;66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0" name="Google Shape;67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1" name="Google Shape;67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2" name="Google Shape;67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3" name="Google Shape;67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74" name="Google Shape;674;p13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675" name="Google Shape;675;p13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676" name="Google Shape;676;p13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7" name="Google Shape;677;p13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8" name="Google Shape;678;p13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79" name="Google Shape;679;p13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0" name="Google Shape;680;p13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1" name="Google Shape;681;p13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2" name="Google Shape;682;p13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3" name="Google Shape;683;p13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4" name="Google Shape;684;p13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686" name="Google Shape;686;p13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13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8" name="Google Shape;688;p13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9" name="Google Shape;689;p13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0" name="Google Shape;690;p13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1" name="Google Shape;691;p13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2" name="Google Shape;692;p13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93" name="Google Shape;693;p13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694" name="Google Shape;694;p13"/>
          <p:cNvSpPr/>
          <p:nvPr/>
        </p:nvSpPr>
        <p:spPr>
          <a:xfrm>
            <a:off x="540475" y="1455200"/>
            <a:ext cx="8063700" cy="334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3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696" name="Google Shape;696;p13"/>
          <p:cNvSpPr txBox="1">
            <a:spLocks noGrp="1"/>
          </p:cNvSpPr>
          <p:nvPr>
            <p:ph type="subTitle" idx="1"/>
          </p:nvPr>
        </p:nvSpPr>
        <p:spPr>
          <a:xfrm>
            <a:off x="1560930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7" name="Google Shape;697;p13"/>
          <p:cNvSpPr txBox="1">
            <a:spLocks noGrp="1"/>
          </p:cNvSpPr>
          <p:nvPr>
            <p:ph type="subTitle" idx="2"/>
          </p:nvPr>
        </p:nvSpPr>
        <p:spPr>
          <a:xfrm>
            <a:off x="1560930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13"/>
          <p:cNvSpPr txBox="1">
            <a:spLocks noGrp="1"/>
          </p:cNvSpPr>
          <p:nvPr>
            <p:ph type="subTitle" idx="3"/>
          </p:nvPr>
        </p:nvSpPr>
        <p:spPr>
          <a:xfrm>
            <a:off x="1560930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699" name="Google Shape;699;p13"/>
          <p:cNvSpPr txBox="1">
            <a:spLocks noGrp="1"/>
          </p:cNvSpPr>
          <p:nvPr>
            <p:ph type="subTitle" idx="4"/>
          </p:nvPr>
        </p:nvSpPr>
        <p:spPr>
          <a:xfrm>
            <a:off x="1560930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3"/>
          <p:cNvSpPr txBox="1">
            <a:spLocks noGrp="1"/>
          </p:cNvSpPr>
          <p:nvPr>
            <p:ph type="subTitle" idx="5"/>
          </p:nvPr>
        </p:nvSpPr>
        <p:spPr>
          <a:xfrm>
            <a:off x="1560930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1" name="Google Shape;701;p13"/>
          <p:cNvSpPr txBox="1">
            <a:spLocks noGrp="1"/>
          </p:cNvSpPr>
          <p:nvPr>
            <p:ph type="subTitle" idx="6"/>
          </p:nvPr>
        </p:nvSpPr>
        <p:spPr>
          <a:xfrm>
            <a:off x="1560930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2" name="Google Shape;702;p13"/>
          <p:cNvSpPr txBox="1">
            <a:spLocks noGrp="1"/>
          </p:cNvSpPr>
          <p:nvPr>
            <p:ph type="subTitle" idx="7"/>
          </p:nvPr>
        </p:nvSpPr>
        <p:spPr>
          <a:xfrm flipH="1">
            <a:off x="4745922" y="156078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3" name="Google Shape;703;p13"/>
          <p:cNvSpPr txBox="1">
            <a:spLocks noGrp="1"/>
          </p:cNvSpPr>
          <p:nvPr>
            <p:ph type="subTitle" idx="8"/>
          </p:nvPr>
        </p:nvSpPr>
        <p:spPr>
          <a:xfrm flipH="1">
            <a:off x="5365422" y="192648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4" name="Google Shape;704;p13"/>
          <p:cNvSpPr txBox="1">
            <a:spLocks noGrp="1"/>
          </p:cNvSpPr>
          <p:nvPr>
            <p:ph type="subTitle" idx="9"/>
          </p:nvPr>
        </p:nvSpPr>
        <p:spPr>
          <a:xfrm flipH="1">
            <a:off x="4745922" y="2600306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5" name="Google Shape;705;p13"/>
          <p:cNvSpPr txBox="1">
            <a:spLocks noGrp="1"/>
          </p:cNvSpPr>
          <p:nvPr>
            <p:ph type="subTitle" idx="13"/>
          </p:nvPr>
        </p:nvSpPr>
        <p:spPr>
          <a:xfrm flipH="1">
            <a:off x="5365422" y="2966011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6" name="Google Shape;706;p13"/>
          <p:cNvSpPr txBox="1">
            <a:spLocks noGrp="1"/>
          </p:cNvSpPr>
          <p:nvPr>
            <p:ph type="subTitle" idx="14"/>
          </p:nvPr>
        </p:nvSpPr>
        <p:spPr>
          <a:xfrm flipH="1">
            <a:off x="4745922" y="3639831"/>
            <a:ext cx="2834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Merriweather"/>
              <a:buNone/>
              <a:defRPr sz="2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07" name="Google Shape;707;p13"/>
          <p:cNvSpPr txBox="1">
            <a:spLocks noGrp="1"/>
          </p:cNvSpPr>
          <p:nvPr>
            <p:ph type="subTitle" idx="15"/>
          </p:nvPr>
        </p:nvSpPr>
        <p:spPr>
          <a:xfrm flipH="1">
            <a:off x="5365422" y="4005536"/>
            <a:ext cx="2215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8" name="Google Shape;708;p13"/>
          <p:cNvSpPr txBox="1">
            <a:spLocks noGrp="1"/>
          </p:cNvSpPr>
          <p:nvPr>
            <p:ph type="title" idx="16" hasCustomPrompt="1"/>
          </p:nvPr>
        </p:nvSpPr>
        <p:spPr>
          <a:xfrm>
            <a:off x="682899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9" name="Google Shape;709;p13"/>
          <p:cNvSpPr txBox="1">
            <a:spLocks noGrp="1"/>
          </p:cNvSpPr>
          <p:nvPr>
            <p:ph type="title" idx="17" hasCustomPrompt="1"/>
          </p:nvPr>
        </p:nvSpPr>
        <p:spPr>
          <a:xfrm>
            <a:off x="682882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0" name="Google Shape;710;p13"/>
          <p:cNvSpPr txBox="1">
            <a:spLocks noGrp="1"/>
          </p:cNvSpPr>
          <p:nvPr>
            <p:ph type="title" idx="18" hasCustomPrompt="1"/>
          </p:nvPr>
        </p:nvSpPr>
        <p:spPr>
          <a:xfrm>
            <a:off x="682882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1" name="Google Shape;711;p13"/>
          <p:cNvSpPr txBox="1">
            <a:spLocks noGrp="1"/>
          </p:cNvSpPr>
          <p:nvPr>
            <p:ph type="title" idx="19" hasCustomPrompt="1"/>
          </p:nvPr>
        </p:nvSpPr>
        <p:spPr>
          <a:xfrm>
            <a:off x="7611818" y="1816685"/>
            <a:ext cx="8493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2" name="Google Shape;712;p13"/>
          <p:cNvSpPr txBox="1">
            <a:spLocks noGrp="1"/>
          </p:cNvSpPr>
          <p:nvPr>
            <p:ph type="title" idx="20" hasCustomPrompt="1"/>
          </p:nvPr>
        </p:nvSpPr>
        <p:spPr>
          <a:xfrm>
            <a:off x="7611818" y="2860363"/>
            <a:ext cx="8493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3" name="Google Shape;713;p13"/>
          <p:cNvSpPr txBox="1">
            <a:spLocks noGrp="1"/>
          </p:cNvSpPr>
          <p:nvPr>
            <p:ph type="title" idx="21" hasCustomPrompt="1"/>
          </p:nvPr>
        </p:nvSpPr>
        <p:spPr>
          <a:xfrm>
            <a:off x="7611818" y="3893540"/>
            <a:ext cx="8493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3_4"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24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614" name="Google Shape;1614;p24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15" name="Google Shape;161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16" name="Google Shape;161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7" name="Google Shape;161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8" name="Google Shape;161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9" name="Google Shape;161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0" name="Google Shape;162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1" name="Google Shape;162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2" name="Google Shape;162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3" name="Google Shape;162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4" name="Google Shape;162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25" name="Google Shape;162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26" name="Google Shape;162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7" name="Google Shape;162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8" name="Google Shape;162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29" name="Google Shape;162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0" name="Google Shape;163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1" name="Google Shape;163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2" name="Google Shape;163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3" name="Google Shape;163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34" name="Google Shape;1634;p24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635" name="Google Shape;163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36" name="Google Shape;163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7" name="Google Shape;163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8" name="Google Shape;163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39" name="Google Shape;163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0" name="Google Shape;164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1" name="Google Shape;164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2" name="Google Shape;164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3" name="Google Shape;164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4" name="Google Shape;164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45" name="Google Shape;164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46" name="Google Shape;164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7" name="Google Shape;164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8" name="Google Shape;164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49" name="Google Shape;164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0" name="Google Shape;165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1" name="Google Shape;165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2" name="Google Shape;165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3" name="Google Shape;165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54" name="Google Shape;1654;p24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55" name="Google Shape;165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56" name="Google Shape;165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7" name="Google Shape;165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8" name="Google Shape;165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59" name="Google Shape;165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0" name="Google Shape;166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1" name="Google Shape;166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2" name="Google Shape;166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3" name="Google Shape;166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4" name="Google Shape;166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65" name="Google Shape;166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66" name="Google Shape;166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7" name="Google Shape;166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8" name="Google Shape;166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69" name="Google Shape;166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0" name="Google Shape;167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1" name="Google Shape;167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2" name="Google Shape;167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3" name="Google Shape;167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74" name="Google Shape;1674;p24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675" name="Google Shape;1675;p24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676" name="Google Shape;1676;p24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7" name="Google Shape;1677;p24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8" name="Google Shape;1678;p24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79" name="Google Shape;1679;p24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0" name="Google Shape;1680;p24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1" name="Google Shape;1681;p24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2" name="Google Shape;1682;p24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3" name="Google Shape;1683;p24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4" name="Google Shape;1684;p24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85" name="Google Shape;1685;p24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686" name="Google Shape;1686;p24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7" name="Google Shape;1687;p24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8" name="Google Shape;1688;p24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89" name="Google Shape;1689;p24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0" name="Google Shape;1690;p24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1" name="Google Shape;1691;p24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2" name="Google Shape;1692;p24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93" name="Google Shape;1693;p24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694" name="Google Shape;1694;p24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Black"/>
              <a:buNone/>
              <a:defRPr sz="28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1695" name="Google Shape;1695;p24"/>
          <p:cNvSpPr/>
          <p:nvPr/>
        </p:nvSpPr>
        <p:spPr>
          <a:xfrm>
            <a:off x="540400" y="1458450"/>
            <a:ext cx="8064000" cy="297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4"/>
          <p:cNvSpPr txBox="1">
            <a:spLocks noGrp="1"/>
          </p:cNvSpPr>
          <p:nvPr>
            <p:ph type="body" idx="1"/>
          </p:nvPr>
        </p:nvSpPr>
        <p:spPr>
          <a:xfrm>
            <a:off x="815200" y="1454125"/>
            <a:ext cx="7513500" cy="29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b="1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1" name="Google Shape;1871;p27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872" name="Google Shape;1872;p27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73" name="Google Shape;187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74" name="Google Shape;187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5" name="Google Shape;187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6" name="Google Shape;187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7" name="Google Shape;187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8" name="Google Shape;187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9" name="Google Shape;187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0" name="Google Shape;188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1" name="Google Shape;188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2" name="Google Shape;188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83" name="Google Shape;188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84" name="Google Shape;188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5" name="Google Shape;188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6" name="Google Shape;188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7" name="Google Shape;188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8" name="Google Shape;188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89" name="Google Shape;188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0" name="Google Shape;189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1" name="Google Shape;189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92" name="Google Shape;1892;p27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93" name="Google Shape;189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94" name="Google Shape;189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5" name="Google Shape;189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6" name="Google Shape;189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7" name="Google Shape;189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8" name="Google Shape;189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99" name="Google Shape;189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0" name="Google Shape;190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1" name="Google Shape;190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2" name="Google Shape;190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03" name="Google Shape;190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04" name="Google Shape;190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5" name="Google Shape;190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6" name="Google Shape;190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7" name="Google Shape;190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8" name="Google Shape;190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09" name="Google Shape;190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0" name="Google Shape;191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1" name="Google Shape;191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12" name="Google Shape;1912;p27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13" name="Google Shape;191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14" name="Google Shape;191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5" name="Google Shape;191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6" name="Google Shape;191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7" name="Google Shape;191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8" name="Google Shape;191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9" name="Google Shape;191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0" name="Google Shape;192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1" name="Google Shape;192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2" name="Google Shape;192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23" name="Google Shape;192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24" name="Google Shape;192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5" name="Google Shape;192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6" name="Google Shape;192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7" name="Google Shape;192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8" name="Google Shape;192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9" name="Google Shape;192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0" name="Google Shape;193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1" name="Google Shape;193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32" name="Google Shape;1932;p27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933" name="Google Shape;1933;p27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934" name="Google Shape;1934;p27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5" name="Google Shape;1935;p27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6" name="Google Shape;1936;p27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7" name="Google Shape;1937;p27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8" name="Google Shape;1938;p27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9" name="Google Shape;1939;p27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0" name="Google Shape;1940;p27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1" name="Google Shape;1941;p27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2" name="Google Shape;1942;p27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43" name="Google Shape;1943;p27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944" name="Google Shape;1944;p27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5" name="Google Shape;1945;p27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6" name="Google Shape;1946;p27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7" name="Google Shape;1947;p27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8" name="Google Shape;1948;p27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49" name="Google Shape;1949;p27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0" name="Google Shape;1950;p27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51" name="Google Shape;1951;p27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952" name="Google Shape;1952;p27"/>
          <p:cNvSpPr txBox="1">
            <a:spLocks noGrp="1"/>
          </p:cNvSpPr>
          <p:nvPr>
            <p:ph type="title"/>
          </p:nvPr>
        </p:nvSpPr>
        <p:spPr>
          <a:xfrm>
            <a:off x="2639875" y="534501"/>
            <a:ext cx="3866700" cy="8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  <p:sp>
        <p:nvSpPr>
          <p:cNvPr id="1953" name="Google Shape;1953;p27"/>
          <p:cNvSpPr txBox="1">
            <a:spLocks noGrp="1"/>
          </p:cNvSpPr>
          <p:nvPr>
            <p:ph type="subTitle" idx="1"/>
          </p:nvPr>
        </p:nvSpPr>
        <p:spPr>
          <a:xfrm>
            <a:off x="2983525" y="1382665"/>
            <a:ext cx="3179400" cy="117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4" name="Google Shape;1954;p27"/>
          <p:cNvSpPr txBox="1"/>
          <p:nvPr/>
        </p:nvSpPr>
        <p:spPr>
          <a:xfrm>
            <a:off x="1692625" y="4062750"/>
            <a:ext cx="5758800" cy="36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 </a:t>
            </a:r>
            <a:r>
              <a:rPr lang="en" sz="110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Spectral"/>
                <a:ea typeface="Spectral"/>
                <a:cs typeface="Spectral"/>
                <a:sym typeface="Spectr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sp>
        <p:nvSpPr>
          <p:cNvPr id="1955" name="Google Shape;1955;p27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6" name="Google Shape;1956;p27"/>
          <p:cNvSpPr/>
          <p:nvPr/>
        </p:nvSpPr>
        <p:spPr>
          <a:xfrm flipH="1">
            <a:off x="334652" y="4588866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solidFill>
          <a:schemeClr val="dk1"/>
        </a:solidFill>
        <a:effectLst/>
      </p:bgPr>
    </p:bg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9" name="Google Shape;2049;p29"/>
          <p:cNvGrpSpPr/>
          <p:nvPr/>
        </p:nvGrpSpPr>
        <p:grpSpPr>
          <a:xfrm>
            <a:off x="-151025" y="-87459"/>
            <a:ext cx="9443950" cy="5336943"/>
            <a:chOff x="1366600" y="892542"/>
            <a:chExt cx="757200" cy="649200"/>
          </a:xfrm>
        </p:grpSpPr>
        <p:grpSp>
          <p:nvGrpSpPr>
            <p:cNvPr id="2050" name="Google Shape;2050;p29"/>
            <p:cNvGrpSpPr/>
            <p:nvPr/>
          </p:nvGrpSpPr>
          <p:grpSpPr>
            <a:xfrm>
              <a:off x="1366600" y="892542"/>
              <a:ext cx="757199" cy="649200"/>
              <a:chOff x="1366600" y="892542"/>
              <a:chExt cx="757199" cy="649200"/>
            </a:xfrm>
          </p:grpSpPr>
          <p:cxnSp>
            <p:nvCxnSpPr>
              <p:cNvPr id="2051" name="Google Shape;2051;p29"/>
              <p:cNvCxnSpPr/>
              <p:nvPr/>
            </p:nvCxnSpPr>
            <p:spPr>
              <a:xfrm>
                <a:off x="13666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2" name="Google Shape;2052;p29"/>
              <p:cNvCxnSpPr/>
              <p:nvPr/>
            </p:nvCxnSpPr>
            <p:spPr>
              <a:xfrm>
                <a:off x="15559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3" name="Google Shape;2053;p29"/>
              <p:cNvCxnSpPr/>
              <p:nvPr/>
            </p:nvCxnSpPr>
            <p:spPr>
              <a:xfrm>
                <a:off x="1745200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4" name="Google Shape;2054;p29"/>
              <p:cNvCxnSpPr/>
              <p:nvPr/>
            </p:nvCxnSpPr>
            <p:spPr>
              <a:xfrm>
                <a:off x="19344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5" name="Google Shape;2055;p29"/>
              <p:cNvCxnSpPr/>
              <p:nvPr/>
            </p:nvCxnSpPr>
            <p:spPr>
              <a:xfrm>
                <a:off x="2123799" y="892542"/>
                <a:ext cx="0" cy="64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56" name="Google Shape;2056;p29"/>
            <p:cNvGrpSpPr/>
            <p:nvPr/>
          </p:nvGrpSpPr>
          <p:grpSpPr>
            <a:xfrm>
              <a:off x="1366600" y="892542"/>
              <a:ext cx="757200" cy="645919"/>
              <a:chOff x="1366600" y="892542"/>
              <a:chExt cx="757200" cy="645919"/>
            </a:xfrm>
          </p:grpSpPr>
          <p:cxnSp>
            <p:nvCxnSpPr>
              <p:cNvPr id="2057" name="Google Shape;2057;p29"/>
              <p:cNvCxnSpPr/>
              <p:nvPr/>
            </p:nvCxnSpPr>
            <p:spPr>
              <a:xfrm>
                <a:off x="1366600" y="892542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8" name="Google Shape;2058;p29"/>
              <p:cNvCxnSpPr/>
              <p:nvPr/>
            </p:nvCxnSpPr>
            <p:spPr>
              <a:xfrm>
                <a:off x="1366600" y="1107849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9" name="Google Shape;2059;p29"/>
              <p:cNvCxnSpPr/>
              <p:nvPr/>
            </p:nvCxnSpPr>
            <p:spPr>
              <a:xfrm>
                <a:off x="1366600" y="1323155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0" name="Google Shape;2060;p29"/>
              <p:cNvCxnSpPr/>
              <p:nvPr/>
            </p:nvCxnSpPr>
            <p:spPr>
              <a:xfrm>
                <a:off x="1366600" y="1538461"/>
                <a:ext cx="757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061" name="Google Shape;2061;p29"/>
          <p:cNvGrpSpPr/>
          <p:nvPr/>
        </p:nvGrpSpPr>
        <p:grpSpPr>
          <a:xfrm rot="-5400000" flipH="1">
            <a:off x="7774437" y="2192363"/>
            <a:ext cx="1764041" cy="758764"/>
            <a:chOff x="6659230" y="279450"/>
            <a:chExt cx="2217246" cy="953700"/>
          </a:xfrm>
        </p:grpSpPr>
        <p:sp>
          <p:nvSpPr>
            <p:cNvPr id="2062" name="Google Shape;2062;p29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7" name="Google Shape;2067;p29"/>
          <p:cNvSpPr/>
          <p:nvPr/>
        </p:nvSpPr>
        <p:spPr>
          <a:xfrm flipH="1">
            <a:off x="259229" y="1477639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8" name="Google Shape;2068;p29"/>
          <p:cNvSpPr/>
          <p:nvPr/>
        </p:nvSpPr>
        <p:spPr>
          <a:xfrm flipH="1">
            <a:off x="6813956" y="176164"/>
            <a:ext cx="246900" cy="2403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9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484" name="Google Shape;484;p9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485" name="Google Shape;48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486" name="Google Shape;48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7" name="Google Shape;48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8" name="Google Shape;48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0" name="Google Shape;49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1" name="Google Shape;49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2" name="Google Shape;49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3" name="Google Shape;49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4" name="Google Shape;49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95" name="Google Shape;49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496" name="Google Shape;49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7" name="Google Shape;49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8" name="Google Shape;49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99" name="Google Shape;49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0" name="Google Shape;50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1" name="Google Shape;50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2" name="Google Shape;50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3" name="Google Shape;50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04" name="Google Shape;504;p9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505" name="Google Shape;50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06" name="Google Shape;50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7" name="Google Shape;50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8" name="Google Shape;50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09" name="Google Shape;50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0" name="Google Shape;51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1" name="Google Shape;51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2" name="Google Shape;51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3" name="Google Shape;51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4" name="Google Shape;51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15" name="Google Shape;51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16" name="Google Shape;51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7" name="Google Shape;51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9" name="Google Shape;51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0" name="Google Shape;52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1" name="Google Shape;52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3" name="Google Shape;52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24" name="Google Shape;524;p9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25" name="Google Shape;52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26" name="Google Shape;52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7" name="Google Shape;52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8" name="Google Shape;52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9" name="Google Shape;52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0" name="Google Shape;53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1" name="Google Shape;53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2" name="Google Shape;53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5" name="Google Shape;53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36" name="Google Shape;53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7" name="Google Shape;53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1" name="Google Shape;54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2" name="Google Shape;54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4" name="Google Shape;544;p9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545" name="Google Shape;545;p9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546" name="Google Shape;546;p9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7" name="Google Shape;547;p9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8" name="Google Shape;548;p9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9" name="Google Shape;549;p9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0" name="Google Shape;550;p9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1" name="Google Shape;551;p9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2" name="Google Shape;552;p9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3" name="Google Shape;553;p9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4" name="Google Shape;554;p9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55" name="Google Shape;555;p9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556" name="Google Shape;556;p9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7" name="Google Shape;557;p9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9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9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9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9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2" name="Google Shape;562;p9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3" name="Google Shape;563;p9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64" name="Google Shape;564;p9"/>
          <p:cNvSpPr/>
          <p:nvPr/>
        </p:nvSpPr>
        <p:spPr>
          <a:xfrm>
            <a:off x="1114800" y="1086000"/>
            <a:ext cx="6914400" cy="2971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 txBox="1">
            <a:spLocks noGrp="1"/>
          </p:cNvSpPr>
          <p:nvPr>
            <p:ph type="title"/>
          </p:nvPr>
        </p:nvSpPr>
        <p:spPr>
          <a:xfrm>
            <a:off x="2098025" y="1609100"/>
            <a:ext cx="49476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66" name="Google Shape;566;p9"/>
          <p:cNvSpPr txBox="1">
            <a:spLocks noGrp="1"/>
          </p:cNvSpPr>
          <p:nvPr>
            <p:ph type="subTitle" idx="1"/>
          </p:nvPr>
        </p:nvSpPr>
        <p:spPr>
          <a:xfrm>
            <a:off x="2098025" y="2389294"/>
            <a:ext cx="4947600" cy="11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567" name="Google Shape;567;p9"/>
          <p:cNvGrpSpPr/>
          <p:nvPr/>
        </p:nvGrpSpPr>
        <p:grpSpPr>
          <a:xfrm>
            <a:off x="8031636" y="337016"/>
            <a:ext cx="820754" cy="1064503"/>
            <a:chOff x="7465916" y="720492"/>
            <a:chExt cx="1139144" cy="1477450"/>
          </a:xfrm>
        </p:grpSpPr>
        <p:sp>
          <p:nvSpPr>
            <p:cNvPr id="568" name="Google Shape;568;p9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9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9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4" name="Google Shape;574;p9"/>
          <p:cNvSpPr/>
          <p:nvPr/>
        </p:nvSpPr>
        <p:spPr>
          <a:xfrm flipH="1">
            <a:off x="7822627" y="4596843"/>
            <a:ext cx="429900" cy="418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456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5" name="Google Shape;1785;p26"/>
          <p:cNvGrpSpPr/>
          <p:nvPr/>
        </p:nvGrpSpPr>
        <p:grpSpPr>
          <a:xfrm>
            <a:off x="-35275" y="-31835"/>
            <a:ext cx="9214549" cy="5207170"/>
            <a:chOff x="-35275" y="-31835"/>
            <a:chExt cx="9214549" cy="5207170"/>
          </a:xfrm>
        </p:grpSpPr>
        <p:grpSp>
          <p:nvGrpSpPr>
            <p:cNvPr id="1786" name="Google Shape;1786;p26"/>
            <p:cNvGrpSpPr/>
            <p:nvPr/>
          </p:nvGrpSpPr>
          <p:grpSpPr>
            <a:xfrm>
              <a:off x="-35275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787" name="Google Shape;178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788" name="Google Shape;178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89" name="Google Shape;178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0" name="Google Shape;179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1" name="Google Shape;179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2" name="Google Shape;179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3" name="Google Shape;179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4" name="Google Shape;179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5" name="Google Shape;179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6" name="Google Shape;179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797" name="Google Shape;179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798" name="Google Shape;179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99" name="Google Shape;179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0" name="Google Shape;180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1" name="Google Shape;180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2" name="Google Shape;180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3" name="Google Shape;180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4" name="Google Shape;180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5" name="Google Shape;180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06" name="Google Shape;1806;p26"/>
            <p:cNvGrpSpPr/>
            <p:nvPr/>
          </p:nvGrpSpPr>
          <p:grpSpPr>
            <a:xfrm>
              <a:off x="4572003" y="-31835"/>
              <a:ext cx="4607271" cy="2603603"/>
              <a:chOff x="987999" y="461925"/>
              <a:chExt cx="1514404" cy="1507151"/>
            </a:xfrm>
          </p:grpSpPr>
          <p:grpSp>
            <p:nvGrpSpPr>
              <p:cNvPr id="1807" name="Google Shape;180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08" name="Google Shape;180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09" name="Google Shape;180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0" name="Google Shape;181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1" name="Google Shape;181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2" name="Google Shape;181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3" name="Google Shape;181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4" name="Google Shape;181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5" name="Google Shape;181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6" name="Google Shape;181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17" name="Google Shape;181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18" name="Google Shape;181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19" name="Google Shape;181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0" name="Google Shape;182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1" name="Google Shape;182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2" name="Google Shape;182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3" name="Google Shape;182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4" name="Google Shape;182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5" name="Google Shape;182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26" name="Google Shape;1826;p26"/>
            <p:cNvGrpSpPr/>
            <p:nvPr/>
          </p:nvGrpSpPr>
          <p:grpSpPr>
            <a:xfrm>
              <a:off x="-35275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827" name="Google Shape;182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28" name="Google Shape;182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29" name="Google Shape;182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0" name="Google Shape;183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1" name="Google Shape;183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2" name="Google Shape;183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3" name="Google Shape;183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4" name="Google Shape;183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5" name="Google Shape;183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6" name="Google Shape;183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37" name="Google Shape;183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38" name="Google Shape;183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39" name="Google Shape;183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0" name="Google Shape;184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1" name="Google Shape;184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2" name="Google Shape;184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3" name="Google Shape;184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4" name="Google Shape;184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5" name="Google Shape;184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846" name="Google Shape;1846;p26"/>
            <p:cNvGrpSpPr/>
            <p:nvPr/>
          </p:nvGrpSpPr>
          <p:grpSpPr>
            <a:xfrm>
              <a:off x="4572003" y="2571732"/>
              <a:ext cx="4607271" cy="2603603"/>
              <a:chOff x="987999" y="461925"/>
              <a:chExt cx="1514404" cy="1507151"/>
            </a:xfrm>
          </p:grpSpPr>
          <p:grpSp>
            <p:nvGrpSpPr>
              <p:cNvPr id="1847" name="Google Shape;1847;p26"/>
              <p:cNvGrpSpPr/>
              <p:nvPr/>
            </p:nvGrpSpPr>
            <p:grpSpPr>
              <a:xfrm>
                <a:off x="987999" y="461925"/>
                <a:ext cx="1514401" cy="1506302"/>
                <a:chOff x="987999" y="461925"/>
                <a:chExt cx="1514401" cy="1506302"/>
              </a:xfrm>
            </p:grpSpPr>
            <p:cxnSp>
              <p:nvCxnSpPr>
                <p:cNvPr id="1848" name="Google Shape;1848;p26"/>
                <p:cNvCxnSpPr/>
                <p:nvPr/>
              </p:nvCxnSpPr>
              <p:spPr>
                <a:xfrm>
                  <a:off x="9879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49" name="Google Shape;1849;p26"/>
                <p:cNvCxnSpPr/>
                <p:nvPr/>
              </p:nvCxnSpPr>
              <p:spPr>
                <a:xfrm>
                  <a:off x="11772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0" name="Google Shape;1850;p26"/>
                <p:cNvCxnSpPr/>
                <p:nvPr/>
              </p:nvCxnSpPr>
              <p:spPr>
                <a:xfrm>
                  <a:off x="13665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1" name="Google Shape;1851;p26"/>
                <p:cNvCxnSpPr/>
                <p:nvPr/>
              </p:nvCxnSpPr>
              <p:spPr>
                <a:xfrm>
                  <a:off x="15558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2" name="Google Shape;1852;p26"/>
                <p:cNvCxnSpPr/>
                <p:nvPr/>
              </p:nvCxnSpPr>
              <p:spPr>
                <a:xfrm>
                  <a:off x="17451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3" name="Google Shape;1853;p26"/>
                <p:cNvCxnSpPr/>
                <p:nvPr/>
              </p:nvCxnSpPr>
              <p:spPr>
                <a:xfrm>
                  <a:off x="19344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4" name="Google Shape;1854;p26"/>
                <p:cNvCxnSpPr/>
                <p:nvPr/>
              </p:nvCxnSpPr>
              <p:spPr>
                <a:xfrm>
                  <a:off x="21237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5" name="Google Shape;1855;p26"/>
                <p:cNvCxnSpPr/>
                <p:nvPr/>
              </p:nvCxnSpPr>
              <p:spPr>
                <a:xfrm>
                  <a:off x="2313099" y="461927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6" name="Google Shape;1856;p26"/>
                <p:cNvCxnSpPr/>
                <p:nvPr/>
              </p:nvCxnSpPr>
              <p:spPr>
                <a:xfrm>
                  <a:off x="2502400" y="461925"/>
                  <a:ext cx="0" cy="1506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857" name="Google Shape;1857;p26"/>
              <p:cNvGrpSpPr/>
              <p:nvPr/>
            </p:nvGrpSpPr>
            <p:grpSpPr>
              <a:xfrm>
                <a:off x="987999" y="461927"/>
                <a:ext cx="1514404" cy="1507149"/>
                <a:chOff x="987999" y="461927"/>
                <a:chExt cx="1514404" cy="1507149"/>
              </a:xfrm>
            </p:grpSpPr>
            <p:cxnSp>
              <p:nvCxnSpPr>
                <p:cNvPr id="1858" name="Google Shape;1858;p26"/>
                <p:cNvCxnSpPr/>
                <p:nvPr/>
              </p:nvCxnSpPr>
              <p:spPr>
                <a:xfrm>
                  <a:off x="988003" y="461927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59" name="Google Shape;1859;p26"/>
                <p:cNvCxnSpPr/>
                <p:nvPr/>
              </p:nvCxnSpPr>
              <p:spPr>
                <a:xfrm>
                  <a:off x="987999" y="67723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0" name="Google Shape;1860;p26"/>
                <p:cNvCxnSpPr/>
                <p:nvPr/>
              </p:nvCxnSpPr>
              <p:spPr>
                <a:xfrm>
                  <a:off x="987999" y="892542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1" name="Google Shape;1861;p26"/>
                <p:cNvCxnSpPr/>
                <p:nvPr/>
              </p:nvCxnSpPr>
              <p:spPr>
                <a:xfrm>
                  <a:off x="987999" y="110784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2" name="Google Shape;1862;p26"/>
                <p:cNvCxnSpPr/>
                <p:nvPr/>
              </p:nvCxnSpPr>
              <p:spPr>
                <a:xfrm>
                  <a:off x="987999" y="1323155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3" name="Google Shape;1863;p26"/>
                <p:cNvCxnSpPr/>
                <p:nvPr/>
              </p:nvCxnSpPr>
              <p:spPr>
                <a:xfrm>
                  <a:off x="987999" y="1538461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4" name="Google Shape;1864;p26"/>
                <p:cNvCxnSpPr/>
                <p:nvPr/>
              </p:nvCxnSpPr>
              <p:spPr>
                <a:xfrm>
                  <a:off x="987999" y="1753768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65" name="Google Shape;1865;p26"/>
                <p:cNvCxnSpPr/>
                <p:nvPr/>
              </p:nvCxnSpPr>
              <p:spPr>
                <a:xfrm>
                  <a:off x="988003" y="1969076"/>
                  <a:ext cx="1514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866" name="Google Shape;1866;p26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867" name="Google Shape;1867;p26"/>
          <p:cNvGrpSpPr/>
          <p:nvPr/>
        </p:nvGrpSpPr>
        <p:grpSpPr>
          <a:xfrm flipH="1">
            <a:off x="8438760" y="4313593"/>
            <a:ext cx="474334" cy="655652"/>
            <a:chOff x="5996469" y="3940040"/>
            <a:chExt cx="474334" cy="655652"/>
          </a:xfrm>
        </p:grpSpPr>
        <p:sp>
          <p:nvSpPr>
            <p:cNvPr id="1868" name="Google Shape;1868;p26"/>
            <p:cNvSpPr/>
            <p:nvPr/>
          </p:nvSpPr>
          <p:spPr>
            <a:xfrm flipH="1">
              <a:off x="6132402" y="4269892"/>
              <a:ext cx="338400" cy="3258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6"/>
            <p:cNvSpPr/>
            <p:nvPr/>
          </p:nvSpPr>
          <p:spPr>
            <a:xfrm flipH="1">
              <a:off x="5996469" y="3940040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5822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700" y="339325"/>
            <a:ext cx="8083800" cy="75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"/>
              <a:buNone/>
              <a:defRPr sz="28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37508"/>
            <a:ext cx="7717500" cy="33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70" r:id="rId4"/>
    <p:sldLayoutId id="2147483673" r:id="rId5"/>
    <p:sldLayoutId id="2147483675" r:id="rId6"/>
    <p:sldLayoutId id="2147483681" r:id="rId7"/>
    <p:sldLayoutId id="214748368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ray.readthedocs.io/en/latest/tune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33"/>
          <p:cNvSpPr/>
          <p:nvPr/>
        </p:nvSpPr>
        <p:spPr>
          <a:xfrm>
            <a:off x="1118025" y="1086025"/>
            <a:ext cx="6908700" cy="222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80" name="Google Shape;2080;p33"/>
          <p:cNvSpPr txBox="1">
            <a:spLocks noGrp="1"/>
          </p:cNvSpPr>
          <p:nvPr>
            <p:ph type="subTitle" idx="1"/>
          </p:nvPr>
        </p:nvSpPr>
        <p:spPr>
          <a:xfrm>
            <a:off x="1976876" y="3690492"/>
            <a:ext cx="5190098" cy="11228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ro-RO" sz="1200" noProof="0" dirty="0"/>
              <a:t>2025 – 2026 (Sem. I)</a:t>
            </a:r>
            <a:br>
              <a:rPr lang="ro-RO" sz="1200" noProof="0" dirty="0"/>
            </a:br>
            <a:r>
              <a:rPr lang="ro-RO" sz="1200" noProof="0" dirty="0"/>
              <a:t>Drd. Ștefan Iordache</a:t>
            </a:r>
            <a:br>
              <a:rPr lang="ro-RO" sz="1200" noProof="0" dirty="0"/>
            </a:br>
            <a:r>
              <a:rPr lang="ro-RO" sz="1200" noProof="0" dirty="0"/>
              <a:t>Conf. </a:t>
            </a:r>
            <a:r>
              <a:rPr lang="ro-RO" sz="1200" dirty="0"/>
              <a:t>Dr. Ciprian Păduraru</a:t>
            </a:r>
            <a:br>
              <a:rPr lang="ro-RO" sz="1200" noProof="0" dirty="0"/>
            </a:br>
            <a:r>
              <a:rPr lang="ro-RO" sz="1200" noProof="0" dirty="0"/>
              <a:t>Facultatea de Matematică și Informatică</a:t>
            </a:r>
          </a:p>
          <a:p>
            <a:pPr marL="0" indent="0"/>
            <a:r>
              <a:rPr lang="ro-RO" sz="1200" noProof="0" dirty="0"/>
              <a:t>Universitatea din București</a:t>
            </a:r>
          </a:p>
        </p:txBody>
      </p:sp>
      <p:sp>
        <p:nvSpPr>
          <p:cNvPr id="2081" name="Google Shape;2081;p33"/>
          <p:cNvSpPr txBox="1">
            <a:spLocks noGrp="1"/>
          </p:cNvSpPr>
          <p:nvPr>
            <p:ph type="ctrTitle"/>
          </p:nvPr>
        </p:nvSpPr>
        <p:spPr>
          <a:xfrm>
            <a:off x="1340625" y="1354950"/>
            <a:ext cx="6462600" cy="8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noProof="0" dirty="0"/>
              <a:t>Introducere în </a:t>
            </a:r>
            <a:r>
              <a:rPr lang="ro-RO" sz="3200" noProof="0" dirty="0" err="1"/>
              <a:t>Reinforcement</a:t>
            </a:r>
            <a:r>
              <a:rPr lang="ro-RO" sz="3200" noProof="0" dirty="0"/>
              <a:t> </a:t>
            </a:r>
            <a:r>
              <a:rPr lang="ro-RO" sz="3200" noProof="0" dirty="0" err="1"/>
              <a:t>Learning</a:t>
            </a:r>
            <a:endParaRPr lang="ro-RO" sz="3200" noProof="0" dirty="0"/>
          </a:p>
        </p:txBody>
      </p:sp>
      <p:sp>
        <p:nvSpPr>
          <p:cNvPr id="2082" name="Google Shape;2082;p33"/>
          <p:cNvSpPr/>
          <p:nvPr/>
        </p:nvSpPr>
        <p:spPr>
          <a:xfrm>
            <a:off x="2649300" y="2361196"/>
            <a:ext cx="3872285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o-RO" noProof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Merriweather"/>
              </a:rPr>
              <a:t>Cursul #4</a:t>
            </a:r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sp>
        <p:nvSpPr>
          <p:cNvPr id="2083" name="Google Shape;2083;p33"/>
          <p:cNvSpPr/>
          <p:nvPr/>
        </p:nvSpPr>
        <p:spPr>
          <a:xfrm>
            <a:off x="3261615" y="2357391"/>
            <a:ext cx="2647657" cy="68931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endParaRPr lang="ro-RO" b="0" i="0" noProof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Merriweather"/>
            </a:endParaRPr>
          </a:p>
        </p:txBody>
      </p:sp>
      <p:grpSp>
        <p:nvGrpSpPr>
          <p:cNvPr id="2084" name="Google Shape;2084;p33"/>
          <p:cNvGrpSpPr/>
          <p:nvPr/>
        </p:nvGrpSpPr>
        <p:grpSpPr>
          <a:xfrm>
            <a:off x="7803335" y="4060517"/>
            <a:ext cx="798976" cy="380999"/>
            <a:chOff x="7740700" y="4100311"/>
            <a:chExt cx="786936" cy="604089"/>
          </a:xfrm>
        </p:grpSpPr>
        <p:grpSp>
          <p:nvGrpSpPr>
            <p:cNvPr id="2085" name="Google Shape;2085;p33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086" name="Google Shape;2086;p33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  <p:sp>
            <p:nvSpPr>
              <p:cNvPr id="2087" name="Google Shape;2087;p33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ro-RO" noProof="0" dirty="0"/>
              </a:p>
            </p:txBody>
          </p:sp>
        </p:grpSp>
        <p:sp>
          <p:nvSpPr>
            <p:cNvPr id="2088" name="Google Shape;2088;p33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2089" name="Google Shape;2089;p33"/>
          <p:cNvSpPr/>
          <p:nvPr/>
        </p:nvSpPr>
        <p:spPr>
          <a:xfrm>
            <a:off x="2102264" y="1754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0" name="Google Shape;2090;p33"/>
          <p:cNvSpPr/>
          <p:nvPr/>
        </p:nvSpPr>
        <p:spPr>
          <a:xfrm>
            <a:off x="948396" y="1289701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091" name="Google Shape;2091;p33"/>
          <p:cNvSpPr/>
          <p:nvPr/>
        </p:nvSpPr>
        <p:spPr>
          <a:xfrm>
            <a:off x="7248344" y="3112759"/>
            <a:ext cx="427200" cy="4164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2092" name="Google Shape;2092;p33"/>
          <p:cNvGrpSpPr/>
          <p:nvPr/>
        </p:nvGrpSpPr>
        <p:grpSpPr>
          <a:xfrm>
            <a:off x="7459073" y="337966"/>
            <a:ext cx="1143140" cy="598828"/>
            <a:chOff x="7055900" y="279450"/>
            <a:chExt cx="1820576" cy="953700"/>
          </a:xfrm>
        </p:grpSpPr>
        <p:sp>
          <p:nvSpPr>
            <p:cNvPr id="2093" name="Google Shape;2093;p33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4" name="Google Shape;2094;p33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5" name="Google Shape;2095;p33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6" name="Google Shape;2096;p33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097" name="Google Shape;2097;p33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2098" name="Google Shape;2098;p33"/>
          <p:cNvGrpSpPr/>
          <p:nvPr/>
        </p:nvGrpSpPr>
        <p:grpSpPr>
          <a:xfrm>
            <a:off x="539126" y="3307343"/>
            <a:ext cx="584139" cy="656583"/>
            <a:chOff x="848509" y="2822478"/>
            <a:chExt cx="624748" cy="702228"/>
          </a:xfrm>
        </p:grpSpPr>
        <p:sp>
          <p:nvSpPr>
            <p:cNvPr id="2099" name="Google Shape;2099;p33"/>
            <p:cNvSpPr/>
            <p:nvPr/>
          </p:nvSpPr>
          <p:spPr>
            <a:xfrm rot="-5400000">
              <a:off x="950207" y="3001656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0" name="Google Shape;2100;p33"/>
            <p:cNvSpPr/>
            <p:nvPr/>
          </p:nvSpPr>
          <p:spPr>
            <a:xfrm rot="-5400000">
              <a:off x="904258" y="2953980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1" name="Google Shape;2101;p33"/>
            <p:cNvSpPr/>
            <p:nvPr/>
          </p:nvSpPr>
          <p:spPr>
            <a:xfrm rot="-5400000">
              <a:off x="858308" y="2906304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2102" name="Google Shape;2102;p33"/>
            <p:cNvSpPr/>
            <p:nvPr/>
          </p:nvSpPr>
          <p:spPr>
            <a:xfrm rot="-5400000">
              <a:off x="812359" y="2858628"/>
              <a:ext cx="5592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" name="Google Shape;2150;p36"/>
          <p:cNvGrpSpPr/>
          <p:nvPr/>
        </p:nvGrpSpPr>
        <p:grpSpPr>
          <a:xfrm>
            <a:off x="1812907" y="1955093"/>
            <a:ext cx="731519" cy="822961"/>
            <a:chOff x="4314469" y="1612892"/>
            <a:chExt cx="486900" cy="607800"/>
          </a:xfrm>
        </p:grpSpPr>
        <p:sp>
          <p:nvSpPr>
            <p:cNvPr id="2151" name="Google Shape;2151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2" name="Google Shape;2162;p36"/>
          <p:cNvGrpSpPr/>
          <p:nvPr/>
        </p:nvGrpSpPr>
        <p:grpSpPr>
          <a:xfrm>
            <a:off x="5235831" y="1955092"/>
            <a:ext cx="731519" cy="822961"/>
            <a:chOff x="4314469" y="1612892"/>
            <a:chExt cx="486900" cy="607800"/>
          </a:xfrm>
        </p:grpSpPr>
        <p:sp>
          <p:nvSpPr>
            <p:cNvPr id="2163" name="Google Shape;2163;p36"/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6"/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6"/>
          <p:cNvSpPr txBox="1">
            <a:spLocks noGrp="1"/>
          </p:cNvSpPr>
          <p:nvPr>
            <p:ph type="title"/>
          </p:nvPr>
        </p:nvSpPr>
        <p:spPr>
          <a:xfrm>
            <a:off x="540475" y="342800"/>
            <a:ext cx="8062200" cy="7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err="1"/>
              <a:t>Cuprins</a:t>
            </a:r>
            <a:endParaRPr/>
          </a:p>
        </p:txBody>
      </p:sp>
      <p:sp>
        <p:nvSpPr>
          <p:cNvPr id="2166" name="Google Shape;2166;p36"/>
          <p:cNvSpPr txBox="1">
            <a:spLocks noGrp="1"/>
          </p:cNvSpPr>
          <p:nvPr>
            <p:ph type="subTitle" idx="1"/>
          </p:nvPr>
        </p:nvSpPr>
        <p:spPr>
          <a:xfrm>
            <a:off x="2603255" y="2258733"/>
            <a:ext cx="2939508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err="1"/>
              <a:t>Recapitulare</a:t>
            </a:r>
            <a:endParaRPr dirty="0"/>
          </a:p>
        </p:txBody>
      </p:sp>
      <p:sp>
        <p:nvSpPr>
          <p:cNvPr id="2168" name="Google Shape;2168;p36"/>
          <p:cNvSpPr txBox="1">
            <a:spLocks noGrp="1"/>
          </p:cNvSpPr>
          <p:nvPr>
            <p:ph type="subTitle" idx="3"/>
          </p:nvPr>
        </p:nvSpPr>
        <p:spPr>
          <a:xfrm>
            <a:off x="6026196" y="2286978"/>
            <a:ext cx="222113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/>
              <a:t>On-Policy MC</a:t>
            </a:r>
            <a:endParaRPr dirty="0"/>
          </a:p>
        </p:txBody>
      </p:sp>
      <p:sp>
        <p:nvSpPr>
          <p:cNvPr id="2178" name="Google Shape;2178;p36"/>
          <p:cNvSpPr txBox="1">
            <a:spLocks noGrp="1"/>
          </p:cNvSpPr>
          <p:nvPr>
            <p:ph type="title" idx="16"/>
          </p:nvPr>
        </p:nvSpPr>
        <p:spPr>
          <a:xfrm>
            <a:off x="1754079" y="2162854"/>
            <a:ext cx="8493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9" name="Google Shape;2179;p36"/>
          <p:cNvSpPr txBox="1">
            <a:spLocks noGrp="1"/>
          </p:cNvSpPr>
          <p:nvPr>
            <p:ph type="title" idx="17"/>
          </p:nvPr>
        </p:nvSpPr>
        <p:spPr>
          <a:xfrm>
            <a:off x="5176986" y="2168478"/>
            <a:ext cx="849300" cy="48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84" name="Google Shape;2184;p36"/>
          <p:cNvSpPr/>
          <p:nvPr/>
        </p:nvSpPr>
        <p:spPr>
          <a:xfrm>
            <a:off x="7843664" y="1011864"/>
            <a:ext cx="337500" cy="3291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5" name="Google Shape;2185;p36"/>
          <p:cNvSpPr/>
          <p:nvPr/>
        </p:nvSpPr>
        <p:spPr>
          <a:xfrm>
            <a:off x="957921" y="174426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2162;p36">
            <a:extLst>
              <a:ext uri="{FF2B5EF4-FFF2-40B4-BE49-F238E27FC236}">
                <a16:creationId xmlns:a16="http://schemas.microsoft.com/office/drawing/2014/main" id="{F09AF591-DF6C-4D52-D8BC-A7C6DD33E251}"/>
              </a:ext>
            </a:extLst>
          </p:cNvPr>
          <p:cNvGrpSpPr/>
          <p:nvPr/>
        </p:nvGrpSpPr>
        <p:grpSpPr>
          <a:xfrm>
            <a:off x="1812924" y="3668391"/>
            <a:ext cx="731519" cy="822961"/>
            <a:chOff x="4314469" y="1612892"/>
            <a:chExt cx="486900" cy="607800"/>
          </a:xfrm>
        </p:grpSpPr>
        <p:sp>
          <p:nvSpPr>
            <p:cNvPr id="9" name="Google Shape;2163;p36">
              <a:extLst>
                <a:ext uri="{FF2B5EF4-FFF2-40B4-BE49-F238E27FC236}">
                  <a16:creationId xmlns:a16="http://schemas.microsoft.com/office/drawing/2014/main" id="{795560B6-738A-27E5-52CF-99558545608A}"/>
                </a:ext>
              </a:extLst>
            </p:cNvPr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64;p36">
              <a:extLst>
                <a:ext uri="{FF2B5EF4-FFF2-40B4-BE49-F238E27FC236}">
                  <a16:creationId xmlns:a16="http://schemas.microsoft.com/office/drawing/2014/main" id="{9F109A58-14B6-207B-AE57-62FB46152207}"/>
                </a:ext>
              </a:extLst>
            </p:cNvPr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2168;p36">
            <a:extLst>
              <a:ext uri="{FF2B5EF4-FFF2-40B4-BE49-F238E27FC236}">
                <a16:creationId xmlns:a16="http://schemas.microsoft.com/office/drawing/2014/main" id="{A824DC2C-308F-9C94-3813-BE09E1C5B3C9}"/>
              </a:ext>
            </a:extLst>
          </p:cNvPr>
          <p:cNvSpPr txBox="1">
            <a:spLocks/>
          </p:cNvSpPr>
          <p:nvPr/>
        </p:nvSpPr>
        <p:spPr>
          <a:xfrm>
            <a:off x="2632127" y="3952388"/>
            <a:ext cx="195014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dirty="0"/>
              <a:t>On-Policy TD</a:t>
            </a:r>
          </a:p>
        </p:txBody>
      </p:sp>
      <p:sp>
        <p:nvSpPr>
          <p:cNvPr id="12" name="Google Shape;2179;p36">
            <a:extLst>
              <a:ext uri="{FF2B5EF4-FFF2-40B4-BE49-F238E27FC236}">
                <a16:creationId xmlns:a16="http://schemas.microsoft.com/office/drawing/2014/main" id="{D6CF4149-F72C-2AC7-BB6B-FB208A00DA1B}"/>
              </a:ext>
            </a:extLst>
          </p:cNvPr>
          <p:cNvSpPr txBox="1">
            <a:spLocks/>
          </p:cNvSpPr>
          <p:nvPr/>
        </p:nvSpPr>
        <p:spPr>
          <a:xfrm>
            <a:off x="1754079" y="3881777"/>
            <a:ext cx="849300" cy="484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3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" dirty="0"/>
              <a:t>03</a:t>
            </a:r>
          </a:p>
        </p:txBody>
      </p:sp>
      <p:grpSp>
        <p:nvGrpSpPr>
          <p:cNvPr id="2" name="Google Shape;2162;p36">
            <a:extLst>
              <a:ext uri="{FF2B5EF4-FFF2-40B4-BE49-F238E27FC236}">
                <a16:creationId xmlns:a16="http://schemas.microsoft.com/office/drawing/2014/main" id="{892CB1DE-C650-E9FB-AADB-D639FF5A1245}"/>
              </a:ext>
            </a:extLst>
          </p:cNvPr>
          <p:cNvGrpSpPr/>
          <p:nvPr/>
        </p:nvGrpSpPr>
        <p:grpSpPr>
          <a:xfrm>
            <a:off x="5235831" y="3660700"/>
            <a:ext cx="731519" cy="822961"/>
            <a:chOff x="4314469" y="1612892"/>
            <a:chExt cx="486900" cy="607800"/>
          </a:xfrm>
        </p:grpSpPr>
        <p:sp>
          <p:nvSpPr>
            <p:cNvPr id="3" name="Google Shape;2163;p36">
              <a:extLst>
                <a:ext uri="{FF2B5EF4-FFF2-40B4-BE49-F238E27FC236}">
                  <a16:creationId xmlns:a16="http://schemas.microsoft.com/office/drawing/2014/main" id="{CF5671BE-0E9B-42EF-4E7E-5870A99CD8E5}"/>
                </a:ext>
              </a:extLst>
            </p:cNvPr>
            <p:cNvSpPr/>
            <p:nvPr/>
          </p:nvSpPr>
          <p:spPr>
            <a:xfrm rot="5400000" flipH="1">
              <a:off x="4277419" y="1649942"/>
              <a:ext cx="561000" cy="4869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164;p36">
              <a:extLst>
                <a:ext uri="{FF2B5EF4-FFF2-40B4-BE49-F238E27FC236}">
                  <a16:creationId xmlns:a16="http://schemas.microsoft.com/office/drawing/2014/main" id="{F64B894E-7689-FEF9-DF73-E18EEB5167CD}"/>
                </a:ext>
              </a:extLst>
            </p:cNvPr>
            <p:cNvSpPr/>
            <p:nvPr/>
          </p:nvSpPr>
          <p:spPr>
            <a:xfrm rot="5400000" flipH="1">
              <a:off x="4277419" y="1696742"/>
              <a:ext cx="561000" cy="486900"/>
            </a:xfrm>
            <a:prstGeom prst="flowChartDelay">
              <a:avLst/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2168;p36">
            <a:extLst>
              <a:ext uri="{FF2B5EF4-FFF2-40B4-BE49-F238E27FC236}">
                <a16:creationId xmlns:a16="http://schemas.microsoft.com/office/drawing/2014/main" id="{25521AAC-6700-FF8F-73DB-0A529436BA9A}"/>
              </a:ext>
            </a:extLst>
          </p:cNvPr>
          <p:cNvSpPr txBox="1">
            <a:spLocks/>
          </p:cNvSpPr>
          <p:nvPr/>
        </p:nvSpPr>
        <p:spPr>
          <a:xfrm>
            <a:off x="6055034" y="3944697"/>
            <a:ext cx="1950141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"/>
              <a:buNone/>
              <a:defRPr sz="2000" b="1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en-GB" dirty="0"/>
              <a:t>Q-Learning</a:t>
            </a:r>
          </a:p>
        </p:txBody>
      </p:sp>
      <p:sp>
        <p:nvSpPr>
          <p:cNvPr id="6" name="Google Shape;2179;p36">
            <a:extLst>
              <a:ext uri="{FF2B5EF4-FFF2-40B4-BE49-F238E27FC236}">
                <a16:creationId xmlns:a16="http://schemas.microsoft.com/office/drawing/2014/main" id="{C509DAD9-7DFB-BBE4-B30B-9DB1CAC7C58D}"/>
              </a:ext>
            </a:extLst>
          </p:cNvPr>
          <p:cNvSpPr txBox="1">
            <a:spLocks/>
          </p:cNvSpPr>
          <p:nvPr/>
        </p:nvSpPr>
        <p:spPr>
          <a:xfrm>
            <a:off x="5176986" y="3874086"/>
            <a:ext cx="849300" cy="4842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3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 sz="30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" dirty="0"/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 err="1"/>
              <a:t>Recapitulare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4" name="Google Shape;2194;p37"/>
          <p:cNvSpPr/>
          <p:nvPr/>
        </p:nvSpPr>
        <p:spPr>
          <a:xfrm>
            <a:off x="22316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01</a:t>
            </a: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78BC-4273-EA79-AC7F-B87318F1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#1 – </a:t>
            </a:r>
            <a:r>
              <a:rPr lang="ro-RO" dirty="0" err="1"/>
              <a:t>Value</a:t>
            </a:r>
            <a:r>
              <a:rPr lang="ro-RO" dirty="0"/>
              <a:t> </a:t>
            </a:r>
            <a:r>
              <a:rPr lang="ro-RO" dirty="0" err="1"/>
              <a:t>Iteration</a:t>
            </a:r>
            <a:endParaRPr lang="en-RO"/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48FFB41-3D8B-B6A5-DD5C-66D89889C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258" y="1084775"/>
            <a:ext cx="6257484" cy="378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66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FE88-D237-B069-5E78-E57E9DDF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9CA-6DB6-AFBE-976E-AC6A839E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2400" dirty="0"/>
              <a:t>Algoritmul #2 – Abstract </a:t>
            </a:r>
            <a:r>
              <a:rPr lang="ro-RO" sz="2400" dirty="0" err="1"/>
              <a:t>Multi-Armed</a:t>
            </a:r>
            <a:r>
              <a:rPr lang="ro-RO" sz="2400" dirty="0"/>
              <a:t> Bandit</a:t>
            </a:r>
            <a:endParaRPr lang="en-RO" sz="240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4EBAAD6-0F44-1137-C0BB-A01676C6D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96" y="1083340"/>
            <a:ext cx="5814068" cy="396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A8D8-196E-6E9E-2DAE-11ACD177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E338-333E-04FD-99C4-5A274653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Algoritmul #3 – Monte-</a:t>
            </a:r>
            <a:r>
              <a:rPr lang="ro-RO" dirty="0" err="1"/>
              <a:t>Carlo</a:t>
            </a:r>
            <a:endParaRPr lang="en-RO"/>
          </a:p>
        </p:txBody>
      </p:sp>
      <p:pic>
        <p:nvPicPr>
          <p:cNvPr id="5" name="Picture 4" descr="A screenshot of a math program&#10;&#10;AI-generated content may be incorrect.">
            <a:extLst>
              <a:ext uri="{FF2B5EF4-FFF2-40B4-BE49-F238E27FC236}">
                <a16:creationId xmlns:a16="http://schemas.microsoft.com/office/drawing/2014/main" id="{0762D2D5-B375-24A0-1D82-B23DA0818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482" y="1027948"/>
            <a:ext cx="5329108" cy="399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7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5DDE5989-EC82-E2AF-6735-8A64A4FE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84EC8D7E-3470-6CD7-9D20-38FD4B173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Algoritmul #3 – Monte-</a:t>
            </a:r>
            <a:r>
              <a:rPr lang="ro-RO" sz="2400" dirty="0" err="1"/>
              <a:t>Carlo</a:t>
            </a:r>
            <a:r>
              <a:rPr lang="ro-RO" sz="2400" dirty="0"/>
              <a:t> - </a:t>
            </a:r>
            <a:r>
              <a:rPr lang="ro-RO" sz="2400" dirty="0" err="1"/>
              <a:t>Sampling</a:t>
            </a:r>
            <a:endParaRPr lang="ro-RO" sz="2400" dirty="0"/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7D8300D7-0EDC-EA53-4A0F-C574E5C8B3C9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9A3B0D55-24BC-CA9B-9538-5C83F5C28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3" y="993288"/>
            <a:ext cx="6267353" cy="395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10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CF73D50-CBDB-7B64-DDDC-67E4D7B36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44" y="827349"/>
            <a:ext cx="6388036" cy="4019498"/>
          </a:xfrm>
          <a:prstGeom prst="rect">
            <a:avLst/>
          </a:prstGeom>
        </p:spPr>
      </p:pic>
      <p:sp>
        <p:nvSpPr>
          <p:cNvPr id="2" name="Google Shape;2476;p45">
            <a:extLst>
              <a:ext uri="{FF2B5EF4-FFF2-40B4-BE49-F238E27FC236}">
                <a16:creationId xmlns:a16="http://schemas.microsoft.com/office/drawing/2014/main" id="{CD520962-9742-2CB6-D4E4-566B17076DF3}"/>
              </a:ext>
            </a:extLst>
          </p:cNvPr>
          <p:cNvSpPr txBox="1">
            <a:spLocks/>
          </p:cNvSpPr>
          <p:nvPr/>
        </p:nvSpPr>
        <p:spPr>
          <a:xfrm>
            <a:off x="539550" y="134196"/>
            <a:ext cx="8064900" cy="7443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ro-RO" sz="2400" dirty="0"/>
              <a:t>Temporal </a:t>
            </a:r>
            <a:r>
              <a:rPr lang="ro-RO" sz="2400" dirty="0" err="1"/>
              <a:t>Difference</a:t>
            </a:r>
            <a:r>
              <a:rPr lang="ro-RO" sz="2400" dirty="0"/>
              <a:t> - </a:t>
            </a:r>
            <a:r>
              <a:rPr lang="ro-RO" sz="2400" dirty="0" err="1"/>
              <a:t>Bootstraping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748709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705FA2-B875-7D79-A6AC-6E57C600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38" y="185737"/>
            <a:ext cx="5308123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9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On-Policy MC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b="0" i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2</a:t>
            </a:r>
            <a:endParaRPr b="0" i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310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986" y="1126136"/>
            <a:ext cx="5966085" cy="784500"/>
          </a:xfrm>
        </p:spPr>
        <p:txBody>
          <a:bodyPr/>
          <a:lstStyle/>
          <a:p>
            <a:r>
              <a:rPr lang="en-RO" sz="3800" dirty="0"/>
              <a:t>On-Policy vs Off-Policy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86D4E-218F-4F04-6DF0-D85E2C249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2082800"/>
            <a:ext cx="6827519" cy="1934564"/>
          </a:xfrm>
        </p:spPr>
        <p:txBody>
          <a:bodyPr/>
          <a:lstStyle/>
          <a:p>
            <a:pPr algn="l">
              <a:buFontTx/>
              <a:buChar char="-"/>
            </a:pPr>
            <a:r>
              <a:rPr lang="en-RO" sz="1800" b="1" dirty="0">
                <a:solidFill>
                  <a:srgbClr val="FF0000"/>
                </a:solidFill>
              </a:rPr>
              <a:t>On-Policy</a:t>
            </a:r>
          </a:p>
          <a:p>
            <a:pPr lvl="1" algn="l">
              <a:buFontTx/>
              <a:buChar char="-"/>
            </a:pPr>
            <a:r>
              <a:rPr lang="en-RO" sz="1600" dirty="0"/>
              <a:t>”Calificare la locul de muncă”</a:t>
            </a:r>
          </a:p>
          <a:p>
            <a:pPr lvl="1" algn="l">
              <a:buFontTx/>
              <a:buChar char="-"/>
            </a:pPr>
            <a:r>
              <a:rPr lang="en-RO" sz="1600" dirty="0"/>
              <a:t>Învățăm politica π din experiențe extrase cu ajutorul aceleiași politici.</a:t>
            </a:r>
          </a:p>
          <a:p>
            <a:pPr algn="l">
              <a:buFontTx/>
              <a:buChar char="-"/>
            </a:pPr>
            <a:r>
              <a:rPr lang="en-RO" sz="1800" b="1" dirty="0">
                <a:solidFill>
                  <a:srgbClr val="FF0000"/>
                </a:solidFill>
              </a:rPr>
              <a:t>Off-Policy</a:t>
            </a:r>
          </a:p>
          <a:p>
            <a:pPr lvl="1" algn="l">
              <a:buFontTx/>
              <a:buChar char="-"/>
            </a:pPr>
            <a:r>
              <a:rPr lang="en-RO" sz="1600" dirty="0"/>
              <a:t>”Învățăm uitându-ne la altcineva”</a:t>
            </a:r>
          </a:p>
          <a:p>
            <a:pPr lvl="1" algn="l">
              <a:buFontTx/>
              <a:buChar char="-"/>
            </a:pPr>
            <a:r>
              <a:rPr lang="en-RO" sz="1600" dirty="0"/>
              <a:t>Învățăm politica π din experiențe extrase cu altă politică (μ).</a:t>
            </a:r>
          </a:p>
        </p:txBody>
      </p:sp>
    </p:spTree>
    <p:extLst>
      <p:ext uri="{BB962C8B-B14F-4D97-AF65-F5344CB8AC3E}">
        <p14:creationId xmlns:p14="http://schemas.microsoft.com/office/powerpoint/2010/main" val="4175826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4000" dirty="0"/>
              <a:t>On-Policy Monte Carlo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ECBF3-8CC5-C8F1-5EB1-79075EDE8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0" y="2571750"/>
            <a:ext cx="4032450" cy="23165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4AD2C4-ACED-9964-1166-0F686E4BB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607" y="1088390"/>
            <a:ext cx="2700843" cy="37172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B8A48B58-8EC7-34A7-D741-E9D464A6141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39550" y="1088390"/>
                <a:ext cx="5180530" cy="1131923"/>
              </a:xfrm>
            </p:spPr>
            <p:txBody>
              <a:bodyPr/>
              <a:lstStyle/>
              <a:p>
                <a:pPr algn="l">
                  <a:buFontTx/>
                  <a:buChar char="-"/>
                </a:pPr>
                <a:r>
                  <a:rPr lang="en-RO" sz="1800" b="1" dirty="0">
                    <a:solidFill>
                      <a:srgbClr val="FF0000"/>
                    </a:solidFill>
                  </a:rPr>
                  <a:t>Evaluarea politicii: </a:t>
                </a:r>
                <a:r>
                  <a:rPr lang="en-RO" sz="1800" b="1" dirty="0">
                    <a:solidFill>
                      <a:schemeClr val="bg1">
                        <a:lumMod val="10000"/>
                      </a:schemeClr>
                    </a:solidFill>
                  </a:rPr>
                  <a:t>Estimarea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endParaRPr lang="en-RO" sz="1800" b="1" dirty="0">
                  <a:solidFill>
                    <a:srgbClr val="FF0000"/>
                  </a:solidFill>
                </a:endParaRPr>
              </a:p>
              <a:p>
                <a:pPr algn="l">
                  <a:buFontTx/>
                  <a:buChar char="-"/>
                </a:pPr>
                <a:r>
                  <a:rPr lang="en-RO" sz="1800" b="1" dirty="0">
                    <a:solidFill>
                      <a:srgbClr val="FF0000"/>
                    </a:solidFill>
                  </a:rPr>
                  <a:t>Îmbunătățire politicii: </a:t>
                </a:r>
                <a:r>
                  <a:rPr lang="en-RO" sz="1800" b="1" dirty="0">
                    <a:solidFill>
                      <a:schemeClr val="bg1">
                        <a:lumMod val="10000"/>
                      </a:schemeClr>
                    </a:solidFill>
                  </a:rPr>
                  <a:t>Generarea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RO" sz="1800" b="1" i="1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RO" sz="1800" b="1" i="1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endParaRPr lang="en-RO" sz="1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B8A48B58-8EC7-34A7-D741-E9D464A6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39550" y="1088390"/>
                <a:ext cx="5180530" cy="1131923"/>
              </a:xfrm>
              <a:blipFill>
                <a:blip r:embed="rId4"/>
                <a:stretch>
                  <a:fillRect l="-978" t="-2198" b="-5495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073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550" y="35685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Îmbunătățiri</a:t>
            </a:r>
            <a:r>
              <a:rPr lang="en" dirty="0"/>
              <a:t>: V(s) vs. Q(s, a)</a:t>
            </a:r>
            <a:endParaRPr dirty="0"/>
          </a:p>
        </p:txBody>
      </p:sp>
      <p:sp>
        <p:nvSpPr>
          <p:cNvPr id="2801" name="Google Shape;2801;p55"/>
          <p:cNvSpPr txBox="1"/>
          <p:nvPr/>
        </p:nvSpPr>
        <p:spPr>
          <a:xfrm>
            <a:off x="542127" y="1454402"/>
            <a:ext cx="3414958" cy="3353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Îmbunătățirea politicii cu ajutorul V(s)</a:t>
            </a:r>
          </a:p>
          <a:p>
            <a:pPr algn="ctr"/>
            <a:endParaRPr lang="en-RO" sz="1600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Necesită existența modelului din spatele MDP-ului (procesul decizional Markov)</a:t>
            </a:r>
          </a:p>
          <a:p>
            <a:pPr algn="ctr"/>
            <a:endParaRPr lang="en-RO" sz="1600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</p:txBody>
      </p:sp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3701" y="798053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2804;p55">
            <a:extLst>
              <a:ext uri="{FF2B5EF4-FFF2-40B4-BE49-F238E27FC236}">
                <a16:creationId xmlns:a16="http://schemas.microsoft.com/office/drawing/2014/main" id="{FCAE74F7-3E1F-B3CD-6FE9-71E8DDC7D288}"/>
              </a:ext>
            </a:extLst>
          </p:cNvPr>
          <p:cNvSpPr txBox="1"/>
          <p:nvPr/>
        </p:nvSpPr>
        <p:spPr>
          <a:xfrm>
            <a:off x="5119118" y="1863817"/>
            <a:ext cx="3430339" cy="356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endParaRPr lang="en-RO" sz="16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</p:txBody>
      </p:sp>
      <p:sp>
        <p:nvSpPr>
          <p:cNvPr id="6" name="Google Shape;2796;p55">
            <a:extLst>
              <a:ext uri="{FF2B5EF4-FFF2-40B4-BE49-F238E27FC236}">
                <a16:creationId xmlns:a16="http://schemas.microsoft.com/office/drawing/2014/main" id="{58E27461-59DE-1EAE-47FD-B1D8521B0271}"/>
              </a:ext>
            </a:extLst>
          </p:cNvPr>
          <p:cNvSpPr/>
          <p:nvPr/>
        </p:nvSpPr>
        <p:spPr>
          <a:xfrm>
            <a:off x="5119118" y="1424593"/>
            <a:ext cx="3482755" cy="3383508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Îmbunătățirea politicii cu ajutorul Q(s, a)</a:t>
            </a:r>
          </a:p>
          <a:p>
            <a:pPr algn="ctr"/>
            <a:endParaRPr lang="en-RO" sz="1600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algn="ctr"/>
            <a:endParaRPr lang="en-RO" sz="1600" b="1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ea typeface="Spectral"/>
              <a:cs typeface="Times New Roman" panose="02020603050405020304" pitchFamily="18" charset="0"/>
              <a:sym typeface="Spectral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RO" sz="16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Este model-free!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2C049-8419-D336-8885-23990BFD2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75" y="3610794"/>
            <a:ext cx="2904399" cy="6933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DB2E21-19BF-FF1D-A7EA-18EF1BAE4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351" y="3472480"/>
            <a:ext cx="2687674" cy="85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83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2800" dirty="0"/>
              <a:t>Monte Carlo - ”Action-Value Function”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B8A48B58-8EC7-34A7-D741-E9D464A6141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8797" y="821319"/>
                <a:ext cx="4734199" cy="1131923"/>
              </a:xfrm>
            </p:spPr>
            <p:txBody>
              <a:bodyPr/>
              <a:lstStyle/>
              <a:p>
                <a:pPr algn="l">
                  <a:buFontTx/>
                  <a:buChar char="-"/>
                </a:pPr>
                <a:r>
                  <a:rPr lang="en-RO" sz="1800" b="1" dirty="0">
                    <a:solidFill>
                      <a:srgbClr val="FF0000"/>
                    </a:solidFill>
                  </a:rPr>
                  <a:t>Evaluarea politicii: </a:t>
                </a:r>
                <a:r>
                  <a:rPr lang="en-RO" sz="1800" b="1" dirty="0">
                    <a:solidFill>
                      <a:schemeClr val="bg1">
                        <a:lumMod val="10000"/>
                      </a:schemeClr>
                    </a:solidFill>
                  </a:rPr>
                  <a:t>Estimarea </a:t>
                </a:r>
                <a14:m>
                  <m:oMath xmlns:m="http://schemas.openxmlformats.org/officeDocument/2006/math">
                    <m:r>
                      <a:rPr lang="en-RO" sz="1800" b="1" i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RO" sz="1800" b="1" i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endParaRPr lang="en-RO" sz="1800" b="1" dirty="0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algn="l">
                  <a:buFontTx/>
                  <a:buChar char="-"/>
                </a:pPr>
                <a:r>
                  <a:rPr lang="en-RO" sz="1800" b="1" dirty="0">
                    <a:solidFill>
                      <a:srgbClr val="FF0000"/>
                    </a:solidFill>
                  </a:rPr>
                  <a:t>Îmbunătățirea politicii: </a:t>
                </a:r>
                <a:r>
                  <a:rPr lang="en-RO" sz="1800" b="1" dirty="0">
                    <a:solidFill>
                      <a:schemeClr val="bg1">
                        <a:lumMod val="10000"/>
                      </a:schemeClr>
                    </a:solidFill>
                  </a:rPr>
                  <a:t>ε-greedy</a:t>
                </a:r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B8A48B58-8EC7-34A7-D741-E9D464A6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8797" y="821319"/>
                <a:ext cx="4734199" cy="1131923"/>
              </a:xfrm>
              <a:blipFill>
                <a:blip r:embed="rId2"/>
                <a:stretch>
                  <a:fillRect l="-800" t="-2198" b="-5495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3D758A2-A817-BBB4-5B34-8E28168CF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838" y="1757669"/>
            <a:ext cx="4825557" cy="302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93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A21C01-FCE4-C258-A2B9-E77EF3852F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116419" y="1114753"/>
                <a:ext cx="6932428" cy="2904354"/>
              </a:xfrm>
            </p:spPr>
            <p:txBody>
              <a:bodyPr/>
              <a:lstStyle/>
              <a:p>
                <a:r>
                  <a:rPr lang="en-RO" dirty="0"/>
                  <a:t>Teoremă! </a:t>
                </a:r>
                <a:br>
                  <a:rPr lang="en-RO" dirty="0"/>
                </a:br>
                <a:br>
                  <a:rPr lang="en-RO" dirty="0"/>
                </a:br>
                <a:r>
                  <a:rPr lang="en-RO" sz="2000" dirty="0"/>
                  <a:t>Pentru orice politică ε-greedy π, politica π’ obținută cu ajutorul q</a:t>
                </a:r>
                <a:r>
                  <a:rPr lang="en-RO" sz="2000" baseline="-25000" dirty="0"/>
                  <a:t>π</a:t>
                </a:r>
                <a:r>
                  <a:rPr lang="en-RO" sz="2000" dirty="0"/>
                  <a:t> este o îmbunătățire față de politica anterioară,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p>
                          <m:sSupPr>
                            <m:ctrlPr>
                              <a:rPr lang="en-RO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RO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RO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RO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RO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RO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RO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RO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R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RO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RO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RO" sz="2000" dirty="0"/>
                  <a:t> </a:t>
                </a:r>
                <a:br>
                  <a:rPr lang="en-RO" dirty="0"/>
                </a:br>
                <a:endParaRPr lang="en-RO" sz="2000" i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A21C01-FCE4-C258-A2B9-E77EF3852F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16419" y="1114753"/>
                <a:ext cx="6932428" cy="2904354"/>
              </a:xfrm>
              <a:blipFill>
                <a:blip r:embed="rId2"/>
                <a:stretch>
                  <a:fillRect r="-366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527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/>
              <a:t>Mai </a:t>
            </a:r>
            <a:r>
              <a:rPr lang="en-GB" sz="3200" dirty="0" err="1"/>
              <a:t>detaliat</a:t>
            </a:r>
            <a:r>
              <a:rPr lang="en-GB" sz="3200" dirty="0"/>
              <a:t>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74D6D3-8801-1194-3C82-FC8682BA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88508"/>
            <a:ext cx="7772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59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 err="1"/>
              <a:t>Îmbunătățiri</a:t>
            </a:r>
            <a:r>
              <a:rPr lang="en-GB" sz="3200" dirty="0"/>
              <a:t> </a:t>
            </a:r>
            <a:r>
              <a:rPr lang="en-GB" sz="3200" dirty="0" err="1"/>
              <a:t>prin</a:t>
            </a:r>
            <a:r>
              <a:rPr lang="en-GB" sz="3200" dirty="0"/>
              <a:t> </a:t>
            </a:r>
            <a:r>
              <a:rPr lang="en-GB" sz="3200" dirty="0" err="1"/>
              <a:t>estimări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B8A48B58-8EC7-34A7-D741-E9D464A6141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8797" y="821319"/>
                <a:ext cx="4734199" cy="1131923"/>
              </a:xfrm>
            </p:spPr>
            <p:txBody>
              <a:bodyPr/>
              <a:lstStyle/>
              <a:p>
                <a:pPr algn="l">
                  <a:buFontTx/>
                  <a:buChar char="-"/>
                </a:pPr>
                <a:r>
                  <a:rPr lang="en-RO" sz="1800" b="1" dirty="0">
                    <a:solidFill>
                      <a:srgbClr val="FF0000"/>
                    </a:solidFill>
                  </a:rPr>
                  <a:t>Evaluarea politicii: </a:t>
                </a:r>
                <a:r>
                  <a:rPr lang="en-RO" sz="1800" b="1" dirty="0">
                    <a:solidFill>
                      <a:schemeClr val="bg1">
                        <a:lumMod val="10000"/>
                      </a:schemeClr>
                    </a:solidFill>
                  </a:rPr>
                  <a:t>Estimarea </a:t>
                </a:r>
                <a14:m>
                  <m:oMath xmlns:m="http://schemas.openxmlformats.org/officeDocument/2006/math">
                    <m:r>
                      <a:rPr lang="en-RO" sz="1800" b="1" i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𝐐</m:t>
                    </m:r>
                    <m:r>
                      <a:rPr lang="en-RO" sz="1800" b="1" i="1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RO" sz="1800" b="1" i="1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</m:oMath>
                </a14:m>
                <a:endParaRPr lang="en-RO" sz="1800" b="1" dirty="0">
                  <a:solidFill>
                    <a:schemeClr val="bg1">
                      <a:lumMod val="10000"/>
                    </a:schemeClr>
                  </a:solidFill>
                </a:endParaRPr>
              </a:p>
              <a:p>
                <a:pPr algn="l">
                  <a:buFontTx/>
                  <a:buChar char="-"/>
                </a:pPr>
                <a:r>
                  <a:rPr lang="en-RO" sz="1800" b="1" dirty="0">
                    <a:solidFill>
                      <a:srgbClr val="FF0000"/>
                    </a:solidFill>
                  </a:rPr>
                  <a:t>Îmbunătățirea politicii: </a:t>
                </a:r>
                <a:r>
                  <a:rPr lang="en-RO" sz="1800" b="1" dirty="0">
                    <a:solidFill>
                      <a:schemeClr val="bg1">
                        <a:lumMod val="10000"/>
                      </a:schemeClr>
                    </a:solidFill>
                  </a:rPr>
                  <a:t>ε-greedy</a:t>
                </a:r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B8A48B58-8EC7-34A7-D741-E9D464A614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8797" y="821319"/>
                <a:ext cx="4734199" cy="1131923"/>
              </a:xfrm>
              <a:blipFill>
                <a:blip r:embed="rId2"/>
                <a:stretch>
                  <a:fillRect l="-800" t="-2198" b="-5495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8DEC2AB-6A74-D1B2-5157-98C3F7288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24" y="1791438"/>
            <a:ext cx="5108712" cy="312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583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/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400" dirty="0"/>
              <a:t>On-Policy TD</a:t>
            </a:r>
            <a:endParaRPr sz="4400" dirty="0"/>
          </a:p>
        </p:txBody>
      </p:sp>
      <p:sp>
        <p:nvSpPr>
          <p:cNvPr id="2193" name="Google Shape;2193;p37"/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4" name="Google Shape;2194;p37"/>
          <p:cNvSpPr/>
          <p:nvPr/>
        </p:nvSpPr>
        <p:spPr>
          <a:xfrm>
            <a:off x="2227325" y="549501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RO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3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/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/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/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/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/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393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1156206" y="1468391"/>
            <a:ext cx="6867206" cy="334292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Ce </a:t>
            </a:r>
            <a:r>
              <a:rPr lang="en" dirty="0" err="1"/>
              <a:t>este</a:t>
            </a:r>
            <a:r>
              <a:rPr lang="en" dirty="0"/>
              <a:t> Temporal Difference?</a:t>
            </a:r>
            <a:endParaRPr dirty="0"/>
          </a:p>
        </p:txBody>
      </p:sp>
      <p:sp>
        <p:nvSpPr>
          <p:cNvPr id="2801" name="Google Shape;2801;p55"/>
          <p:cNvSpPr txBox="1"/>
          <p:nvPr/>
        </p:nvSpPr>
        <p:spPr>
          <a:xfrm>
            <a:off x="1288893" y="2516736"/>
            <a:ext cx="6566106" cy="123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TD are la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bază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strategia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de </a:t>
            </a:r>
            <a:r>
              <a:rPr lang="en-US" sz="2200" i="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învățare</a:t>
            </a:r>
            <a:r>
              <a:rPr lang="en-US" sz="2200" i="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din </a:t>
            </a:r>
            <a:r>
              <a:rPr lang="en-US" sz="2200" b="1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episoade</a:t>
            </a:r>
            <a:r>
              <a:rPr lang="en-US" sz="2200" b="1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incomplete </a:t>
            </a:r>
            <a:r>
              <a:rPr lang="en-US" sz="2200" b="1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prin</a:t>
            </a:r>
            <a:r>
              <a:rPr lang="en-US" sz="2200" b="1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ea typeface="Spectral"/>
                <a:cs typeface="Times New Roman" panose="02020603050405020304" pitchFamily="18" charset="0"/>
                <a:sym typeface="Spectral"/>
              </a:rPr>
              <a:t> bootstrapping.</a:t>
            </a:r>
          </a:p>
        </p:txBody>
      </p:sp>
      <p:grpSp>
        <p:nvGrpSpPr>
          <p:cNvPr id="2818" name="Google Shape;2818;p55"/>
          <p:cNvGrpSpPr/>
          <p:nvPr/>
        </p:nvGrpSpPr>
        <p:grpSpPr>
          <a:xfrm rot="10800000" flipH="1">
            <a:off x="533701" y="798053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4458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55"/>
          <p:cNvSpPr/>
          <p:nvPr/>
        </p:nvSpPr>
        <p:spPr>
          <a:xfrm>
            <a:off x="539500" y="1458125"/>
            <a:ext cx="3456600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9" name="Google Shape;2799;p55"/>
          <p:cNvSpPr txBox="1">
            <a:spLocks noGrp="1"/>
          </p:cNvSpPr>
          <p:nvPr>
            <p:ph type="title"/>
          </p:nvPr>
        </p:nvSpPr>
        <p:spPr>
          <a:xfrm>
            <a:off x="539496" y="339325"/>
            <a:ext cx="80649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 vs. TD</a:t>
            </a:r>
            <a:endParaRPr dirty="0"/>
          </a:p>
        </p:txBody>
      </p:sp>
      <p:sp>
        <p:nvSpPr>
          <p:cNvPr id="2800" name="Google Shape;2800;p55"/>
          <p:cNvSpPr txBox="1"/>
          <p:nvPr/>
        </p:nvSpPr>
        <p:spPr>
          <a:xfrm>
            <a:off x="1065850" y="1971157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01" name="Google Shape;2801;p55"/>
              <p:cNvSpPr txBox="1"/>
              <p:nvPr/>
            </p:nvSpPr>
            <p:spPr>
              <a:xfrm>
                <a:off x="712350" y="1630481"/>
                <a:ext cx="3173016" cy="3084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Monte Carlo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/>
                <a:endParaRPr lang="en-RO" sz="1600" b="0" i="1" dirty="0">
                  <a:solidFill>
                    <a:schemeClr val="dk1"/>
                  </a:solidFill>
                  <a:latin typeface="Cambria Math" panose="02040503050406030204" pitchFamily="18" charset="0"/>
                  <a:ea typeface="Spectral"/>
                  <a:cs typeface="Spectral"/>
                  <a:sym typeface="Spectral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Spectral"/>
                          <a:cs typeface="Spectral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Spectral"/>
                              <a:cs typeface="Spectral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←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+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𝜶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(</m:t>
                      </m:r>
                      <m:sSub>
                        <m:sSubPr>
                          <m:ctrlP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sSubPr>
                        <m:e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𝑮</m:t>
                          </m:r>
                        </m:e>
                        <m:sub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𝒕</m:t>
                          </m:r>
                        </m:sub>
                      </m:sSub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−</m:t>
                      </m:r>
                      <m:r>
                        <a:rPr lang="en-RO" b="1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   </a:t>
                </a:r>
              </a:p>
            </p:txBody>
          </p:sp>
        </mc:Choice>
        <mc:Fallback xmlns="">
          <p:sp>
            <p:nvSpPr>
              <p:cNvPr id="2801" name="Google Shape;2801;p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50" y="1630481"/>
                <a:ext cx="3173016" cy="3084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13" name="Google Shape;2813;p55"/>
          <p:cNvGrpSpPr/>
          <p:nvPr/>
        </p:nvGrpSpPr>
        <p:grpSpPr>
          <a:xfrm rot="10800000" flipH="1">
            <a:off x="2983814" y="1186027"/>
            <a:ext cx="1038441" cy="387946"/>
            <a:chOff x="7740700" y="4100311"/>
            <a:chExt cx="786936" cy="604089"/>
          </a:xfrm>
        </p:grpSpPr>
        <p:grpSp>
          <p:nvGrpSpPr>
            <p:cNvPr id="2814" name="Google Shape;2814;p55"/>
            <p:cNvGrpSpPr/>
            <p:nvPr/>
          </p:nvGrpSpPr>
          <p:grpSpPr>
            <a:xfrm>
              <a:off x="7740700" y="4149700"/>
              <a:ext cx="737550" cy="554700"/>
              <a:chOff x="7740700" y="4149700"/>
              <a:chExt cx="737550" cy="554700"/>
            </a:xfrm>
          </p:grpSpPr>
          <p:sp>
            <p:nvSpPr>
              <p:cNvPr id="2815" name="Google Shape;2815;p55"/>
              <p:cNvSpPr/>
              <p:nvPr/>
            </p:nvSpPr>
            <p:spPr>
              <a:xfrm rot="5400000">
                <a:off x="7905550" y="4131700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55"/>
              <p:cNvSpPr/>
              <p:nvPr/>
            </p:nvSpPr>
            <p:spPr>
              <a:xfrm>
                <a:off x="7740700" y="4286500"/>
                <a:ext cx="86400" cy="2811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7" name="Google Shape;2817;p5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8" name="Google Shape;2818;p55"/>
          <p:cNvGrpSpPr/>
          <p:nvPr/>
        </p:nvGrpSpPr>
        <p:grpSpPr>
          <a:xfrm rot="10800000" flipH="1">
            <a:off x="538170" y="897685"/>
            <a:ext cx="901976" cy="387965"/>
            <a:chOff x="6659230" y="279450"/>
            <a:chExt cx="2217246" cy="953700"/>
          </a:xfrm>
        </p:grpSpPr>
        <p:sp>
          <p:nvSpPr>
            <p:cNvPr id="2819" name="Google Shape;2819;p55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5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5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5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5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2796;p55">
            <a:extLst>
              <a:ext uri="{FF2B5EF4-FFF2-40B4-BE49-F238E27FC236}">
                <a16:creationId xmlns:a16="http://schemas.microsoft.com/office/drawing/2014/main" id="{77CB78AC-DA4B-4AF1-99B9-EE80FFCF9F73}"/>
              </a:ext>
            </a:extLst>
          </p:cNvPr>
          <p:cNvSpPr/>
          <p:nvPr/>
        </p:nvSpPr>
        <p:spPr>
          <a:xfrm>
            <a:off x="4572000" y="1450475"/>
            <a:ext cx="4032502" cy="335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800;p55">
            <a:extLst>
              <a:ext uri="{FF2B5EF4-FFF2-40B4-BE49-F238E27FC236}">
                <a16:creationId xmlns:a16="http://schemas.microsoft.com/office/drawing/2014/main" id="{5168E7FE-8BD0-4A05-F2F2-BB3BED1D2671}"/>
              </a:ext>
            </a:extLst>
          </p:cNvPr>
          <p:cNvSpPr txBox="1"/>
          <p:nvPr/>
        </p:nvSpPr>
        <p:spPr>
          <a:xfrm>
            <a:off x="2967000" y="2175231"/>
            <a:ext cx="2416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801;p55">
                <a:extLst>
                  <a:ext uri="{FF2B5EF4-FFF2-40B4-BE49-F238E27FC236}">
                    <a16:creationId xmlns:a16="http://schemas.microsoft.com/office/drawing/2014/main" id="{8C5EA8DF-0766-2678-9E04-EBD8DA0FF8FE}"/>
                  </a:ext>
                </a:extLst>
              </p:cNvPr>
              <p:cNvSpPr txBox="1"/>
              <p:nvPr/>
            </p:nvSpPr>
            <p:spPr>
              <a:xfrm>
                <a:off x="4629151" y="1627039"/>
                <a:ext cx="3914774" cy="3084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1600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Temporal Difference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lvl="0" algn="ctr"/>
                <a:endParaRPr lang="en-RO" b="1" i="1" dirty="0">
                  <a:solidFill>
                    <a:schemeClr val="dk1"/>
                  </a:solidFill>
                  <a:latin typeface="Cambria Math" panose="02040503050406030204" pitchFamily="18" charset="0"/>
                  <a:ea typeface="Spectral"/>
                  <a:cs typeface="Spectral"/>
                  <a:sym typeface="Spectral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Spectral"/>
                          <a:cs typeface="Spectral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Spectral"/>
                              <a:cs typeface="Spectral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←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𝑽</m:t>
                      </m:r>
                      <m:d>
                        <m:dPr>
                          <m:ctrlPr>
                            <a:rPr lang="en-RO" b="1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</m:sub>
                          </m:sSub>
                        </m:e>
                      </m:d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+</m:t>
                      </m:r>
                      <m:r>
                        <a:rPr lang="en-RO" b="1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pectral"/>
                        </a:rPr>
                        <m:t>𝜶</m:t>
                      </m:r>
                      <m:d>
                        <m:dPr>
                          <m:ctrlP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sSubPr>
                            <m:e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𝒕</m:t>
                              </m:r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+</m:t>
                              </m:r>
                              <m:r>
                                <a:rPr lang="en-RO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  <m:t>𝟏</m:t>
                              </m:r>
                            </m:sub>
                          </m:sSub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+</m:t>
                          </m:r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𝜸</m:t>
                          </m:r>
                          <m:r>
                            <a:rPr lang="en-RO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𝑽</m:t>
                          </m:r>
                          <m:d>
                            <m:dPr>
                              <m:ctrlPr>
                                <a:rPr lang="en-R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</m:ctrlPr>
                                </m:sSubPr>
                                <m:e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𝒕</m:t>
                                  </m:r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+</m:t>
                                  </m:r>
                                  <m:r>
                                    <a:rPr lang="en-RO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−</m:t>
                          </m:r>
                          <m:r>
                            <a:rPr lang="en-RO" b="1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pectral"/>
                            </a:rPr>
                            <m:t>𝑽</m:t>
                          </m:r>
                          <m:d>
                            <m:dPr>
                              <m:ctrlPr>
                                <a:rPr lang="en-RO" b="1" i="1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Spectr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RO" b="1" i="1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</m:ctrlPr>
                                </m:sSubPr>
                                <m:e>
                                  <m:r>
                                    <a:rPr lang="en-RO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RO" b="1" i="1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Spectral"/>
                                    </a:rPr>
                                    <m:t>𝒕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RO" b="1" dirty="0">
                  <a:solidFill>
                    <a:schemeClr val="dk1"/>
                  </a:solidFill>
                  <a:latin typeface="Spectral"/>
                  <a:ea typeface="Cambria Math" panose="02040503050406030204" pitchFamily="18" charset="0"/>
                  <a:sym typeface="Spectral"/>
                </a:endParaRPr>
              </a:p>
              <a:p>
                <a:pPr lvl="0" algn="ctr"/>
                <a:endParaRPr lang="en-US" b="1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sSubPr>
                      <m:e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𝑹</m:t>
                        </m:r>
                      </m:e>
                      <m: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𝒕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+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+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𝜸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+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poartă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denumirea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de “temporal difference target”.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𝜹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</m:sub>
                        </m:s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=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𝑹</m:t>
                        </m:r>
                      </m:e>
                      <m:sub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𝒕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+</m:t>
                        </m:r>
                        <m:r>
                          <a:rPr lang="en-RO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  <m:t>𝟏</m:t>
                        </m:r>
                      </m:sub>
                    </m:sSub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+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𝜸</m:t>
                    </m:r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+</m:t>
                            </m:r>
                            <m:r>
                              <a:rPr lang="en-RO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−</m:t>
                    </m:r>
                  </m:oMath>
                </a14:m>
                <a:r>
                  <a:rPr lang="en-RO" b="1" dirty="0">
                    <a:solidFill>
                      <a:srgbClr val="FF0000"/>
                    </a:solidFill>
                    <a:ea typeface="Cambria Math" panose="02040503050406030204" pitchFamily="18" charset="0"/>
                    <a:sym typeface="Spectral"/>
                  </a:rPr>
                  <a:t> </a:t>
                </a:r>
                <a14:m>
                  <m:oMath xmlns:m="http://schemas.openxmlformats.org/officeDocument/2006/math">
                    <m:r>
                      <a:rPr lang="en-RO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𝑽</m:t>
                    </m:r>
                    <m:d>
                      <m:dPr>
                        <m:ctrlPr>
                          <a:rPr lang="en-RO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pectr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</m:ctrlPr>
                          </m:sSubPr>
                          <m:e>
                            <m: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𝑺</m:t>
                            </m:r>
                          </m:e>
                          <m:sub>
                            <m:r>
                              <a:rPr lang="en-RO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pectral"/>
                              </a:rPr>
                              <m:t>𝒕</m:t>
                            </m:r>
                          </m:sub>
                        </m:sSub>
                      </m:e>
                    </m:d>
                    <m:r>
                      <a:rPr lang="en-RO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pectral"/>
                      </a:rPr>
                      <m:t> </m:t>
                    </m:r>
                  </m:oMath>
                </a14:m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reprezintă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</a:t>
                </a:r>
                <a:r>
                  <a:rPr lang="en-US" b="1" dirty="0" err="1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eroarea</a:t>
                </a:r>
                <a:r>
                  <a:rPr lang="en-US" b="1" dirty="0">
                    <a:solidFill>
                      <a:schemeClr val="dk1"/>
                    </a:solidFill>
                    <a:latin typeface="Spectral"/>
                    <a:ea typeface="Spectral"/>
                    <a:cs typeface="Spectral"/>
                    <a:sym typeface="Spectral"/>
                  </a:rPr>
                  <a:t> TD.</a:t>
                </a:r>
              </a:p>
              <a:p>
                <a:pPr lvl="0" algn="ctr" rtl="0">
                  <a:spcBef>
                    <a:spcPts val="0"/>
                  </a:spcBef>
                  <a:spcAft>
                    <a:spcPts val="0"/>
                  </a:spcAft>
                </a:pPr>
                <a:endParaRPr lang="en-US" sz="1600" dirty="0">
                  <a:solidFill>
                    <a:schemeClr val="dk1"/>
                  </a:solidFill>
                  <a:latin typeface="Spectral"/>
                  <a:ea typeface="Spectral"/>
                  <a:cs typeface="Spectral"/>
                  <a:sym typeface="Spectral"/>
                </a:endParaRPr>
              </a:p>
            </p:txBody>
          </p:sp>
        </mc:Choice>
        <mc:Fallback xmlns="">
          <p:sp>
            <p:nvSpPr>
              <p:cNvPr id="5" name="Google Shape;2801;p55">
                <a:extLst>
                  <a:ext uri="{FF2B5EF4-FFF2-40B4-BE49-F238E27FC236}">
                    <a16:creationId xmlns:a16="http://schemas.microsoft.com/office/drawing/2014/main" id="{8C5EA8DF-0766-2678-9E04-EBD8DA0FF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151" y="1627039"/>
                <a:ext cx="3914774" cy="3084737"/>
              </a:xfrm>
              <a:prstGeom prst="rect">
                <a:avLst/>
              </a:prstGeom>
              <a:blipFill>
                <a:blip r:embed="rId4"/>
                <a:stretch>
                  <a:fillRect l="-3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1524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MC vs. TD</a:t>
            </a:r>
          </a:p>
        </p:txBody>
      </p:sp>
      <p:sp>
        <p:nvSpPr>
          <p:cNvPr id="2477" name="Google Shape;2477;p45"/>
          <p:cNvSpPr txBox="1">
            <a:spLocks noGrp="1"/>
          </p:cNvSpPr>
          <p:nvPr>
            <p:ph type="body" idx="1"/>
          </p:nvPr>
        </p:nvSpPr>
        <p:spPr>
          <a:xfrm>
            <a:off x="539499" y="1471800"/>
            <a:ext cx="8064899" cy="29613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>
              <a:lnSpc>
                <a:spcPct val="150000"/>
              </a:lnSpc>
              <a:buChar char="●"/>
            </a:pPr>
            <a:r>
              <a:rPr lang="ro-RO" sz="1800" b="1" dirty="0"/>
              <a:t>Ne reamintim avantajele TD:</a:t>
            </a:r>
          </a:p>
          <a:p>
            <a:pPr lvl="2">
              <a:lnSpc>
                <a:spcPct val="150000"/>
              </a:lnSpc>
              <a:buChar char="●"/>
            </a:pPr>
            <a:r>
              <a:rPr lang="ro-RO" sz="1800" dirty="0"/>
              <a:t>Varianță mai mică!</a:t>
            </a:r>
          </a:p>
          <a:p>
            <a:pPr lvl="2">
              <a:lnSpc>
                <a:spcPct val="150000"/>
              </a:lnSpc>
              <a:buChar char="●"/>
            </a:pPr>
            <a:r>
              <a:rPr lang="ro-RO" sz="1800" dirty="0"/>
              <a:t>Online!</a:t>
            </a:r>
          </a:p>
          <a:p>
            <a:pPr lvl="2">
              <a:lnSpc>
                <a:spcPct val="150000"/>
              </a:lnSpc>
              <a:buChar char="●"/>
            </a:pPr>
            <a:r>
              <a:rPr lang="ro-RO" sz="1800" dirty="0"/>
              <a:t>Învață din secvențe incomplete!</a:t>
            </a:r>
          </a:p>
          <a:p>
            <a:pPr lvl="1">
              <a:lnSpc>
                <a:spcPct val="150000"/>
              </a:lnSpc>
              <a:buFont typeface="Spectral"/>
              <a:buChar char="●"/>
            </a:pPr>
            <a:r>
              <a:rPr lang="ro-RO" sz="1800" b="1" dirty="0"/>
              <a:t>Ce putem face în continuare?</a:t>
            </a:r>
          </a:p>
          <a:p>
            <a:pPr lvl="2">
              <a:lnSpc>
                <a:spcPct val="150000"/>
              </a:lnSpc>
              <a:buFont typeface="Spectral"/>
              <a:buChar char="●"/>
            </a:pPr>
            <a:r>
              <a:rPr lang="ro-RO" sz="1800" b="1" dirty="0"/>
              <a:t>Aplicăm TD pentru Q(s, a) cu </a:t>
            </a:r>
            <a:r>
              <a:rPr lang="ro-RO" sz="1800" b="1" dirty="0" err="1"/>
              <a:t>ε-greedy</a:t>
            </a:r>
            <a:r>
              <a:rPr lang="ro-RO" sz="1800" b="1" dirty="0"/>
              <a:t>, la fiecare pas de timp t</a:t>
            </a:r>
          </a:p>
          <a:p>
            <a:pPr lvl="2">
              <a:lnSpc>
                <a:spcPct val="150000"/>
              </a:lnSpc>
              <a:buChar char="●"/>
            </a:pPr>
            <a:endParaRPr lang="ro-RO" sz="1800" dirty="0"/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32443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786" y="1402168"/>
            <a:ext cx="6932428" cy="2339163"/>
          </a:xfrm>
        </p:spPr>
        <p:txBody>
          <a:bodyPr/>
          <a:lstStyle/>
          <a:p>
            <a:r>
              <a:rPr lang="en-RO" dirty="0"/>
              <a:t>SARSA(λ)</a:t>
            </a:r>
            <a:br>
              <a:rPr lang="en-RO" dirty="0"/>
            </a:br>
            <a:br>
              <a:rPr lang="en-RO" dirty="0"/>
            </a:br>
            <a:endParaRPr lang="en-RO" sz="20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97132-1782-F55B-AF08-F0BFC4FB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6" y="1092121"/>
            <a:ext cx="1329070" cy="29592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7DF4E6-0534-A8F6-35F5-1A60B7749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50" y="4051378"/>
            <a:ext cx="64643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29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50" y="146285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3200" dirty="0" err="1"/>
              <a:t>Algoritm</a:t>
            </a:r>
            <a:r>
              <a:rPr lang="en-GB" sz="3200" dirty="0"/>
              <a:t> -  SARSA On-Policy Control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ECEECD-01F7-37BB-48AB-9BEED6A98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36" y="1158517"/>
            <a:ext cx="8274581" cy="319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83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o-RO" sz="2400" dirty="0"/>
              <a:t>n-Step SARSA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2801;p55">
            <a:extLst>
              <a:ext uri="{FF2B5EF4-FFF2-40B4-BE49-F238E27FC236}">
                <a16:creationId xmlns:a16="http://schemas.microsoft.com/office/drawing/2014/main" id="{8839A03E-6B33-37FF-05FA-A9AE2D86EABB}"/>
              </a:ext>
            </a:extLst>
          </p:cNvPr>
          <p:cNvSpPr txBox="1"/>
          <p:nvPr/>
        </p:nvSpPr>
        <p:spPr>
          <a:xfrm>
            <a:off x="1041350" y="1564528"/>
            <a:ext cx="2481904" cy="60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“n-Step Return” pentru n = 1, 2, …</a:t>
            </a:r>
            <a:endParaRPr lang="en-US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B7A58-B87E-DFD5-EF4D-AFA3BE5D6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50" y="2368465"/>
            <a:ext cx="70612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3220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ro-RO" sz="2400" dirty="0"/>
              <a:t>n-Step SARSA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2801;p55">
            <a:extLst>
              <a:ext uri="{FF2B5EF4-FFF2-40B4-BE49-F238E27FC236}">
                <a16:creationId xmlns:a16="http://schemas.microsoft.com/office/drawing/2014/main" id="{8839A03E-6B33-37FF-05FA-A9AE2D86EABB}"/>
              </a:ext>
            </a:extLst>
          </p:cNvPr>
          <p:cNvSpPr txBox="1"/>
          <p:nvPr/>
        </p:nvSpPr>
        <p:spPr>
          <a:xfrm>
            <a:off x="1041350" y="1564528"/>
            <a:ext cx="2481904" cy="60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n-Step Q-Return</a:t>
            </a:r>
            <a:endParaRPr lang="en-US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E71B10-C5F2-499F-131B-590CC1432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04" y="1993174"/>
            <a:ext cx="6553200" cy="749300"/>
          </a:xfrm>
          <a:prstGeom prst="rect">
            <a:avLst/>
          </a:prstGeom>
        </p:spPr>
      </p:pic>
      <p:sp>
        <p:nvSpPr>
          <p:cNvPr id="5" name="Google Shape;2801;p55">
            <a:extLst>
              <a:ext uri="{FF2B5EF4-FFF2-40B4-BE49-F238E27FC236}">
                <a16:creationId xmlns:a16="http://schemas.microsoft.com/office/drawing/2014/main" id="{8BCC3DEA-F35B-F4F9-67C7-9C09BDE80220}"/>
              </a:ext>
            </a:extLst>
          </p:cNvPr>
          <p:cNvSpPr txBox="1"/>
          <p:nvPr/>
        </p:nvSpPr>
        <p:spPr>
          <a:xfrm>
            <a:off x="1112004" y="3078067"/>
            <a:ext cx="2481904" cy="60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RO" b="1" dirty="0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rPr>
              <a:t>n-Step SARSA update</a:t>
            </a:r>
            <a:endParaRPr lang="en-US" dirty="0">
              <a:solidFill>
                <a:schemeClr val="dk1"/>
              </a:solidFill>
              <a:latin typeface="Spectral"/>
              <a:ea typeface="Spectral"/>
              <a:cs typeface="Spectral"/>
              <a:sym typeface="Spectr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A2F170-57E5-64F0-C2F5-AAB073E31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004" y="3507663"/>
            <a:ext cx="57023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2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>
          <a:extLst>
            <a:ext uri="{FF2B5EF4-FFF2-40B4-BE49-F238E27FC236}">
              <a16:creationId xmlns:a16="http://schemas.microsoft.com/office/drawing/2014/main" id="{6D907713-7BD1-CABC-1160-8B4003489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37">
            <a:extLst>
              <a:ext uri="{FF2B5EF4-FFF2-40B4-BE49-F238E27FC236}">
                <a16:creationId xmlns:a16="http://schemas.microsoft.com/office/drawing/2014/main" id="{A17ED11D-78F1-0195-5B85-044DB05E09C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210650" y="1683075"/>
            <a:ext cx="4720200" cy="176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4400" dirty="0"/>
              <a:t>Q-learning</a:t>
            </a:r>
            <a:endParaRPr sz="4400" dirty="0"/>
          </a:p>
        </p:txBody>
      </p:sp>
      <p:sp>
        <p:nvSpPr>
          <p:cNvPr id="2193" name="Google Shape;2193;p37">
            <a:extLst>
              <a:ext uri="{FF2B5EF4-FFF2-40B4-BE49-F238E27FC236}">
                <a16:creationId xmlns:a16="http://schemas.microsoft.com/office/drawing/2014/main" id="{C6DCA462-AE4A-6346-AAB0-3AABD15C1629}"/>
              </a:ext>
            </a:extLst>
          </p:cNvPr>
          <p:cNvSpPr/>
          <p:nvPr/>
        </p:nvSpPr>
        <p:spPr>
          <a:xfrm>
            <a:off x="2295151" y="540928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US"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4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4" name="Google Shape;2194;p37">
            <a:extLst>
              <a:ext uri="{FF2B5EF4-FFF2-40B4-BE49-F238E27FC236}">
                <a16:creationId xmlns:a16="http://schemas.microsoft.com/office/drawing/2014/main" id="{97162F1D-99AC-B358-A5AA-9BE139EAD23E}"/>
              </a:ext>
            </a:extLst>
          </p:cNvPr>
          <p:cNvSpPr/>
          <p:nvPr/>
        </p:nvSpPr>
        <p:spPr>
          <a:xfrm>
            <a:off x="2245756" y="549501"/>
            <a:ext cx="1907849" cy="11483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0</a:t>
            </a:r>
            <a:r>
              <a:rPr lang="en-US" b="0" i="0" dirty="0"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dk1"/>
                </a:solidFill>
                <a:latin typeface="Merriweather;900"/>
              </a:rPr>
              <a:t>4</a:t>
            </a:r>
            <a:endParaRPr b="0" i="0" dirty="0"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dk1"/>
              </a:solidFill>
              <a:latin typeface="Merriweather;900"/>
            </a:endParaRPr>
          </a:p>
        </p:txBody>
      </p:sp>
      <p:sp>
        <p:nvSpPr>
          <p:cNvPr id="2195" name="Google Shape;2195;p37">
            <a:extLst>
              <a:ext uri="{FF2B5EF4-FFF2-40B4-BE49-F238E27FC236}">
                <a16:creationId xmlns:a16="http://schemas.microsoft.com/office/drawing/2014/main" id="{C4B6E0BE-53A3-80E0-BD34-9BA0F7ABD618}"/>
              </a:ext>
            </a:extLst>
          </p:cNvPr>
          <p:cNvSpPr/>
          <p:nvPr/>
        </p:nvSpPr>
        <p:spPr>
          <a:xfrm>
            <a:off x="1594863" y="1565164"/>
            <a:ext cx="236700" cy="2307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37">
            <a:extLst>
              <a:ext uri="{FF2B5EF4-FFF2-40B4-BE49-F238E27FC236}">
                <a16:creationId xmlns:a16="http://schemas.microsoft.com/office/drawing/2014/main" id="{BB25752B-52DD-175D-245B-8EABBF0C31B7}"/>
              </a:ext>
            </a:extLst>
          </p:cNvPr>
          <p:cNvSpPr/>
          <p:nvPr/>
        </p:nvSpPr>
        <p:spPr>
          <a:xfrm>
            <a:off x="6757396" y="3778965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37">
            <a:extLst>
              <a:ext uri="{FF2B5EF4-FFF2-40B4-BE49-F238E27FC236}">
                <a16:creationId xmlns:a16="http://schemas.microsoft.com/office/drawing/2014/main" id="{DFDCEDF9-EBA4-3A49-AC7E-A67B66332A16}"/>
              </a:ext>
            </a:extLst>
          </p:cNvPr>
          <p:cNvGrpSpPr/>
          <p:nvPr/>
        </p:nvGrpSpPr>
        <p:grpSpPr>
          <a:xfrm>
            <a:off x="6939236" y="1683082"/>
            <a:ext cx="1370960" cy="1778111"/>
            <a:chOff x="7465916" y="720492"/>
            <a:chExt cx="1139144" cy="1477450"/>
          </a:xfrm>
        </p:grpSpPr>
        <p:sp>
          <p:nvSpPr>
            <p:cNvPr id="2198" name="Google Shape;2198;p37">
              <a:extLst>
                <a:ext uri="{FF2B5EF4-FFF2-40B4-BE49-F238E27FC236}">
                  <a16:creationId xmlns:a16="http://schemas.microsoft.com/office/drawing/2014/main" id="{C556EF00-E170-7D4F-7CD6-1FFD1888CB05}"/>
                </a:ext>
              </a:extLst>
            </p:cNvPr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7">
              <a:extLst>
                <a:ext uri="{FF2B5EF4-FFF2-40B4-BE49-F238E27FC236}">
                  <a16:creationId xmlns:a16="http://schemas.microsoft.com/office/drawing/2014/main" id="{4C1C6AEF-EFC0-6D6F-9001-4BF6BFED800E}"/>
                </a:ext>
              </a:extLst>
            </p:cNvPr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7">
              <a:extLst>
                <a:ext uri="{FF2B5EF4-FFF2-40B4-BE49-F238E27FC236}">
                  <a16:creationId xmlns:a16="http://schemas.microsoft.com/office/drawing/2014/main" id="{92EE73DC-5062-E367-DEA6-37ECC3141232}"/>
                </a:ext>
              </a:extLst>
            </p:cNvPr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7">
              <a:extLst>
                <a:ext uri="{FF2B5EF4-FFF2-40B4-BE49-F238E27FC236}">
                  <a16:creationId xmlns:a16="http://schemas.microsoft.com/office/drawing/2014/main" id="{9C0F3194-338F-59F8-10AE-8839A9E685F0}"/>
                </a:ext>
              </a:extLst>
            </p:cNvPr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7">
              <a:extLst>
                <a:ext uri="{FF2B5EF4-FFF2-40B4-BE49-F238E27FC236}">
                  <a16:creationId xmlns:a16="http://schemas.microsoft.com/office/drawing/2014/main" id="{C392B399-C68E-5FC7-03A8-93C4C3FDA2F9}"/>
                </a:ext>
              </a:extLst>
            </p:cNvPr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37">
              <a:extLst>
                <a:ext uri="{FF2B5EF4-FFF2-40B4-BE49-F238E27FC236}">
                  <a16:creationId xmlns:a16="http://schemas.microsoft.com/office/drawing/2014/main" id="{B8F4D100-EA75-E4B0-7678-C42BA0AF37B6}"/>
                </a:ext>
              </a:extLst>
            </p:cNvPr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accen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37">
            <a:extLst>
              <a:ext uri="{FF2B5EF4-FFF2-40B4-BE49-F238E27FC236}">
                <a16:creationId xmlns:a16="http://schemas.microsoft.com/office/drawing/2014/main" id="{9140A698-CFB4-67A1-2EB0-9869CCAB2BC4}"/>
              </a:ext>
            </a:extLst>
          </p:cNvPr>
          <p:cNvGrpSpPr/>
          <p:nvPr/>
        </p:nvGrpSpPr>
        <p:grpSpPr>
          <a:xfrm rot="5400000">
            <a:off x="-149785" y="2103340"/>
            <a:ext cx="1764685" cy="924421"/>
            <a:chOff x="7055900" y="279450"/>
            <a:chExt cx="1820576" cy="953700"/>
          </a:xfrm>
        </p:grpSpPr>
        <p:sp>
          <p:nvSpPr>
            <p:cNvPr id="2205" name="Google Shape;2205;p37">
              <a:extLst>
                <a:ext uri="{FF2B5EF4-FFF2-40B4-BE49-F238E27FC236}">
                  <a16:creationId xmlns:a16="http://schemas.microsoft.com/office/drawing/2014/main" id="{DF541479-1ACE-090A-BB6D-49F5F1FBC89A}"/>
                </a:ext>
              </a:extLst>
            </p:cNvPr>
            <p:cNvSpPr/>
            <p:nvPr/>
          </p:nvSpPr>
          <p:spPr>
            <a:xfrm>
              <a:off x="7055900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7">
              <a:extLst>
                <a:ext uri="{FF2B5EF4-FFF2-40B4-BE49-F238E27FC236}">
                  <a16:creationId xmlns:a16="http://schemas.microsoft.com/office/drawing/2014/main" id="{D05DC030-96E3-23A7-EA48-4E742E96154E}"/>
                </a:ext>
              </a:extLst>
            </p:cNvPr>
            <p:cNvSpPr/>
            <p:nvPr/>
          </p:nvSpPr>
          <p:spPr>
            <a:xfrm>
              <a:off x="7272619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7">
              <a:extLst>
                <a:ext uri="{FF2B5EF4-FFF2-40B4-BE49-F238E27FC236}">
                  <a16:creationId xmlns:a16="http://schemas.microsoft.com/office/drawing/2014/main" id="{A2D1CE8A-2699-D09E-0C11-6F330015014B}"/>
                </a:ext>
              </a:extLst>
            </p:cNvPr>
            <p:cNvSpPr/>
            <p:nvPr/>
          </p:nvSpPr>
          <p:spPr>
            <a:xfrm>
              <a:off x="7489338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7">
              <a:extLst>
                <a:ext uri="{FF2B5EF4-FFF2-40B4-BE49-F238E27FC236}">
                  <a16:creationId xmlns:a16="http://schemas.microsoft.com/office/drawing/2014/main" id="{7616B8B7-75FF-8843-77DE-DE9D2C5D9B25}"/>
                </a:ext>
              </a:extLst>
            </p:cNvPr>
            <p:cNvSpPr/>
            <p:nvPr/>
          </p:nvSpPr>
          <p:spPr>
            <a:xfrm>
              <a:off x="7706057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7">
              <a:extLst>
                <a:ext uri="{FF2B5EF4-FFF2-40B4-BE49-F238E27FC236}">
                  <a16:creationId xmlns:a16="http://schemas.microsoft.com/office/drawing/2014/main" id="{DCA2D2BC-2569-F205-562F-1FCD88B2C99C}"/>
                </a:ext>
              </a:extLst>
            </p:cNvPr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0" name="Google Shape;2210;p37">
            <a:extLst>
              <a:ext uri="{FF2B5EF4-FFF2-40B4-BE49-F238E27FC236}">
                <a16:creationId xmlns:a16="http://schemas.microsoft.com/office/drawing/2014/main" id="{B4A84CA4-613A-79E9-80E6-62F0F2E57FA3}"/>
              </a:ext>
            </a:extLst>
          </p:cNvPr>
          <p:cNvSpPr/>
          <p:nvPr/>
        </p:nvSpPr>
        <p:spPr>
          <a:xfrm>
            <a:off x="3843151" y="434151"/>
            <a:ext cx="236700" cy="2307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10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/>
              <a:t>Ce este Q-</a:t>
            </a:r>
            <a:r>
              <a:rPr lang="ro-RO" sz="2400" dirty="0" err="1"/>
              <a:t>Learning</a:t>
            </a:r>
            <a:r>
              <a:rPr lang="ro-RO" sz="2400" dirty="0"/>
              <a:t>?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2E1F956-3E91-68D0-D12B-3675E8E6E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26" y="1448163"/>
            <a:ext cx="7178947" cy="295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27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112" y="1126136"/>
            <a:ext cx="6441773" cy="784500"/>
          </a:xfrm>
        </p:spPr>
        <p:txBody>
          <a:bodyPr/>
          <a:lstStyle/>
          <a:p>
            <a:r>
              <a:rPr lang="en-RO" sz="3400" dirty="0"/>
              <a:t>De ce să folosim Q-Learning?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86D4E-218F-4F04-6DF0-D85E2C249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2082800"/>
            <a:ext cx="6827519" cy="1934564"/>
          </a:xfrm>
        </p:spPr>
        <p:txBody>
          <a:bodyPr/>
          <a:lstStyle/>
          <a:p>
            <a:pPr algn="l">
              <a:lnSpc>
                <a:spcPct val="150000"/>
              </a:lnSpc>
              <a:buFontTx/>
              <a:buChar char="-"/>
            </a:pPr>
            <a:r>
              <a:rPr lang="en-RO" sz="1800" b="1" dirty="0">
                <a:solidFill>
                  <a:srgbClr val="FF0000"/>
                </a:solidFill>
              </a:rPr>
              <a:t>Cel mai simplu algoritm, de înțeles și aplicat!</a:t>
            </a:r>
            <a:endParaRPr lang="en-RO" b="1" dirty="0">
              <a:solidFill>
                <a:srgbClr val="FF0000"/>
              </a:solidFill>
            </a:endParaRPr>
          </a:p>
          <a:p>
            <a:pPr algn="l">
              <a:lnSpc>
                <a:spcPct val="150000"/>
              </a:lnSpc>
              <a:buFontTx/>
              <a:buChar char="-"/>
            </a:pPr>
            <a:r>
              <a:rPr lang="en-RO" sz="1800" b="1" dirty="0">
                <a:solidFill>
                  <a:srgbClr val="FF0000"/>
                </a:solidFill>
              </a:rPr>
              <a:t>Off-Policy &amp; Model-Free!</a:t>
            </a:r>
          </a:p>
          <a:p>
            <a:pPr algn="l">
              <a:lnSpc>
                <a:spcPct val="150000"/>
              </a:lnSpc>
              <a:buFontTx/>
              <a:buChar char="-"/>
            </a:pPr>
            <a:r>
              <a:rPr lang="en-RO" sz="1800" b="1" dirty="0">
                <a:solidFill>
                  <a:schemeClr val="bg1">
                    <a:lumMod val="10000"/>
                  </a:schemeClr>
                </a:solidFill>
              </a:rPr>
              <a:t>Idee simplă: </a:t>
            </a:r>
            <a:r>
              <a:rPr lang="en-RO" sz="1800" b="1" dirty="0">
                <a:solidFill>
                  <a:srgbClr val="FF0000"/>
                </a:solidFill>
              </a:rPr>
              <a:t>Învățăm o politică care maximizează recompensa totală.</a:t>
            </a:r>
          </a:p>
        </p:txBody>
      </p:sp>
    </p:spTree>
    <p:extLst>
      <p:ext uri="{BB962C8B-B14F-4D97-AF65-F5344CB8AC3E}">
        <p14:creationId xmlns:p14="http://schemas.microsoft.com/office/powerpoint/2010/main" val="3180678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1C01-FCE4-C258-A2B9-E77EF385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419" y="1114753"/>
            <a:ext cx="6932428" cy="2904354"/>
          </a:xfrm>
        </p:spPr>
        <p:txBody>
          <a:bodyPr/>
          <a:lstStyle/>
          <a:p>
            <a:r>
              <a:rPr lang="en-RO" dirty="0"/>
              <a:t>De ce se numește Q-Learning?</a:t>
            </a:r>
            <a:br>
              <a:rPr lang="en-RO" dirty="0"/>
            </a:br>
            <a:br>
              <a:rPr lang="en-RO" dirty="0"/>
            </a:br>
            <a:r>
              <a:rPr lang="en-RO" sz="2000" b="1" dirty="0">
                <a:solidFill>
                  <a:srgbClr val="FF0000"/>
                </a:solidFill>
              </a:rPr>
              <a:t>Q = Quality </a:t>
            </a:r>
            <a:r>
              <a:rPr lang="en-RO" sz="2000" dirty="0"/>
              <a:t>(cât de utilă este o acțiune pentru rezultate viitoare?)</a:t>
            </a:r>
            <a:br>
              <a:rPr lang="en-RO" dirty="0"/>
            </a:br>
            <a:endParaRPr lang="en-RO" sz="2000" i="1" dirty="0"/>
          </a:p>
        </p:txBody>
      </p:sp>
    </p:spTree>
    <p:extLst>
      <p:ext uri="{BB962C8B-B14F-4D97-AF65-F5344CB8AC3E}">
        <p14:creationId xmlns:p14="http://schemas.microsoft.com/office/powerpoint/2010/main" val="3369779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99;p55">
            <a:extLst>
              <a:ext uri="{FF2B5EF4-FFF2-40B4-BE49-F238E27FC236}">
                <a16:creationId xmlns:a16="http://schemas.microsoft.com/office/drawing/2014/main" id="{D8FF1FC3-63DA-C7DB-905F-9893BAFB7517}"/>
              </a:ext>
            </a:extLst>
          </p:cNvPr>
          <p:cNvSpPr txBox="1">
            <a:spLocks/>
          </p:cNvSpPr>
          <p:nvPr/>
        </p:nvSpPr>
        <p:spPr>
          <a:xfrm>
            <a:off x="539549" y="384824"/>
            <a:ext cx="8064900" cy="74070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5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Merriweather"/>
              <a:buNone/>
              <a:defRPr sz="52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rPr lang="en-GB" sz="4000" dirty="0"/>
              <a:t>Formula </a:t>
            </a:r>
            <a:r>
              <a:rPr lang="en-GB" sz="4000" dirty="0" err="1"/>
              <a:t>magică</a:t>
            </a:r>
            <a:r>
              <a:rPr lang="en-GB" sz="4000" dirty="0"/>
              <a:t>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573C2F-5E9C-9081-7CCC-ECF75BC2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88" y="1480625"/>
            <a:ext cx="8500821" cy="1472045"/>
          </a:xfrm>
          <a:prstGeom prst="rect">
            <a:avLst/>
          </a:prstGeom>
        </p:spPr>
      </p:pic>
      <p:pic>
        <p:nvPicPr>
          <p:cNvPr id="1026" name="Picture 2" descr="Q-function">
            <a:extLst>
              <a:ext uri="{FF2B5EF4-FFF2-40B4-BE49-F238E27FC236}">
                <a16:creationId xmlns:a16="http://schemas.microsoft.com/office/drawing/2014/main" id="{F6028634-CC71-9DCA-8059-F9F513239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24" y="2984409"/>
            <a:ext cx="6872748" cy="177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1739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134B5BE1-E3A1-C6D1-9F89-FBFF52EF8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59FC08D6-446B-4711-15B0-CD78E2D58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Q-</a:t>
            </a:r>
            <a:r>
              <a:rPr lang="ro-RO" dirty="0" err="1"/>
              <a:t>Learning</a:t>
            </a:r>
            <a:r>
              <a:rPr lang="ro-RO" dirty="0"/>
              <a:t>– Algoritmul!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7845E43A-85A9-2E32-4B4D-88AE3C83E6B9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Q-learning Pseudocode">
            <a:extLst>
              <a:ext uri="{FF2B5EF4-FFF2-40B4-BE49-F238E27FC236}">
                <a16:creationId xmlns:a16="http://schemas.microsoft.com/office/drawing/2014/main" id="{58EA55C3-7BAE-73D1-F1EE-11A662252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35" y="1210225"/>
            <a:ext cx="7748229" cy="3241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671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>
          <a:extLst>
            <a:ext uri="{FF2B5EF4-FFF2-40B4-BE49-F238E27FC236}">
              <a16:creationId xmlns:a16="http://schemas.microsoft.com/office/drawing/2014/main" id="{3E4A981B-D65F-0018-16F3-513F792C2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>
            <a:extLst>
              <a:ext uri="{FF2B5EF4-FFF2-40B4-BE49-F238E27FC236}">
                <a16:creationId xmlns:a16="http://schemas.microsoft.com/office/drawing/2014/main" id="{1E6B16C5-B466-6EB5-4601-8DEBD30A5C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/>
              <a:t>Q-</a:t>
            </a:r>
            <a:r>
              <a:rPr lang="ro-RO" dirty="0" err="1"/>
              <a:t>Learning</a:t>
            </a:r>
            <a:r>
              <a:rPr lang="ro-RO" dirty="0"/>
              <a:t>– Grid World</a:t>
            </a:r>
          </a:p>
        </p:txBody>
      </p:sp>
      <p:sp>
        <p:nvSpPr>
          <p:cNvPr id="2478" name="Google Shape;2478;p45">
            <a:extLst>
              <a:ext uri="{FF2B5EF4-FFF2-40B4-BE49-F238E27FC236}">
                <a16:creationId xmlns:a16="http://schemas.microsoft.com/office/drawing/2014/main" id="{DF1B9A16-0C96-ED76-CC63-3A9F92516546}"/>
              </a:ext>
            </a:extLst>
          </p:cNvPr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>
            <a:extLst>
              <a:ext uri="{FF2B5EF4-FFF2-40B4-BE49-F238E27FC236}">
                <a16:creationId xmlns:a16="http://schemas.microsoft.com/office/drawing/2014/main" id="{126CCAB1-FE38-44BA-D51F-7497642FCE90}"/>
              </a:ext>
            </a:extLst>
          </p:cNvPr>
          <p:cNvGrpSpPr/>
          <p:nvPr/>
        </p:nvGrpSpPr>
        <p:grpSpPr>
          <a:xfrm rot="21600000">
            <a:off x="4188293" y="2773270"/>
            <a:ext cx="814009" cy="355855"/>
            <a:chOff x="7812047" y="4100311"/>
            <a:chExt cx="715589" cy="608196"/>
          </a:xfrm>
        </p:grpSpPr>
        <p:grpSp>
          <p:nvGrpSpPr>
            <p:cNvPr id="2480" name="Google Shape;2480;p45">
              <a:extLst>
                <a:ext uri="{FF2B5EF4-FFF2-40B4-BE49-F238E27FC236}">
                  <a16:creationId xmlns:a16="http://schemas.microsoft.com/office/drawing/2014/main" id="{0A34D3BA-B5E5-CFD5-D355-6FBAF5027F4B}"/>
                </a:ext>
              </a:extLst>
            </p:cNvPr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>
                <a:extLst>
                  <a:ext uri="{FF2B5EF4-FFF2-40B4-BE49-F238E27FC236}">
                    <a16:creationId xmlns:a16="http://schemas.microsoft.com/office/drawing/2014/main" id="{B716CCAF-1D76-11D9-F7E7-3BA8A11FA341}"/>
                  </a:ext>
                </a:extLst>
              </p:cNvPr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>
                <a:extLst>
                  <a:ext uri="{FF2B5EF4-FFF2-40B4-BE49-F238E27FC236}">
                    <a16:creationId xmlns:a16="http://schemas.microsoft.com/office/drawing/2014/main" id="{E87F8498-1191-42F6-404D-FF2443B0B7A2}"/>
                  </a:ext>
                </a:extLst>
              </p:cNvPr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>
              <a:extLst>
                <a:ext uri="{FF2B5EF4-FFF2-40B4-BE49-F238E27FC236}">
                  <a16:creationId xmlns:a16="http://schemas.microsoft.com/office/drawing/2014/main" id="{9E0B2332-E403-9D6F-C955-2EA621A8DECA}"/>
                </a:ext>
              </a:extLst>
            </p:cNvPr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E98A6CCA-3D3D-9361-C627-7FA2457F4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06318"/>
            <a:ext cx="4299353" cy="3258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30A2AF8-33D1-F1E8-8F24-917DDBF26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07" y="1573491"/>
            <a:ext cx="3652208" cy="278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6501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 err="1"/>
              <a:t>Hiperparametri</a:t>
            </a:r>
            <a:r>
              <a:rPr lang="ro-RO" sz="2400" dirty="0"/>
              <a:t> - Descriere</a:t>
            </a:r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1E79D43F-C8C4-99FE-21D6-D42EEC61F366}"/>
              </a:ext>
            </a:extLst>
          </p:cNvPr>
          <p:cNvSpPr txBox="1">
            <a:spLocks/>
          </p:cNvSpPr>
          <p:nvPr/>
        </p:nvSpPr>
        <p:spPr>
          <a:xfrm>
            <a:off x="539500" y="1448163"/>
            <a:ext cx="8064900" cy="2985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Alpha (𝝰) – </a:t>
            </a:r>
            <a:r>
              <a:rPr lang="en-RO" sz="1800" b="0" dirty="0">
                <a:solidFill>
                  <a:schemeClr val="bg1">
                    <a:lumMod val="10000"/>
                  </a:schemeClr>
                </a:solidFill>
              </a:rPr>
              <a:t>Learning rate. Trend descrescător pe parcursul învățării</a:t>
            </a:r>
            <a:r>
              <a:rPr lang="en-RO" sz="1800" b="0" i="1" dirty="0">
                <a:solidFill>
                  <a:schemeClr val="bg1">
                    <a:lumMod val="10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Gamma (𝛄) – </a:t>
            </a:r>
            <a:r>
              <a:rPr lang="en-RO" sz="1800" b="0" dirty="0">
                <a:solidFill>
                  <a:schemeClr val="bg1">
                    <a:lumMod val="10000"/>
                  </a:schemeClr>
                </a:solidFill>
              </a:rPr>
              <a:t>Valoare cu trend descrescător. Către finalul episoadelor preferăm să luăm în calcul tot mai mult recompensa imediat următoare în locul celor pe termen lung.</a:t>
            </a:r>
          </a:p>
          <a:p>
            <a:pPr>
              <a:lnSpc>
                <a:spcPct val="150000"/>
              </a:lnSpc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Epsilon (𝛆) – </a:t>
            </a:r>
            <a:r>
              <a:rPr lang="en-RO" sz="1800" b="0" dirty="0">
                <a:solidFill>
                  <a:schemeClr val="bg1">
                    <a:lumMod val="10000"/>
                  </a:schemeClr>
                </a:solidFill>
              </a:rPr>
              <a:t>Spre finalul etapei de învățare nu mai avem nevoie de explorare, ci de exploatare. Experimentarea repetată conduce către o valoare cu trend descrescător.</a:t>
            </a:r>
          </a:p>
        </p:txBody>
      </p:sp>
    </p:spTree>
    <p:extLst>
      <p:ext uri="{BB962C8B-B14F-4D97-AF65-F5344CB8AC3E}">
        <p14:creationId xmlns:p14="http://schemas.microsoft.com/office/powerpoint/2010/main" val="2548084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45"/>
          <p:cNvSpPr txBox="1">
            <a:spLocks noGrp="1"/>
          </p:cNvSpPr>
          <p:nvPr>
            <p:ph type="title"/>
          </p:nvPr>
        </p:nvSpPr>
        <p:spPr>
          <a:xfrm>
            <a:off x="539500" y="340475"/>
            <a:ext cx="80649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 err="1"/>
              <a:t>Hiperparametri</a:t>
            </a:r>
            <a:r>
              <a:rPr lang="ro-RO" sz="2400" dirty="0"/>
              <a:t> - </a:t>
            </a:r>
            <a:r>
              <a:rPr lang="ro-RO" sz="2400" dirty="0" err="1"/>
              <a:t>Tuning</a:t>
            </a:r>
            <a:endParaRPr lang="ro-RO" sz="2400" dirty="0"/>
          </a:p>
        </p:txBody>
      </p:sp>
      <p:sp>
        <p:nvSpPr>
          <p:cNvPr id="2478" name="Google Shape;2478;p45"/>
          <p:cNvSpPr/>
          <p:nvPr/>
        </p:nvSpPr>
        <p:spPr>
          <a:xfrm>
            <a:off x="942804" y="917740"/>
            <a:ext cx="338400" cy="331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79" name="Google Shape;2479;p45"/>
          <p:cNvGrpSpPr/>
          <p:nvPr/>
        </p:nvGrpSpPr>
        <p:grpSpPr>
          <a:xfrm rot="10800000">
            <a:off x="6880759" y="1084709"/>
            <a:ext cx="1151741" cy="355855"/>
            <a:chOff x="7812047" y="4100311"/>
            <a:chExt cx="715589" cy="608196"/>
          </a:xfrm>
        </p:grpSpPr>
        <p:grpSp>
          <p:nvGrpSpPr>
            <p:cNvPr id="2480" name="Google Shape;2480;p45"/>
            <p:cNvGrpSpPr/>
            <p:nvPr/>
          </p:nvGrpSpPr>
          <p:grpSpPr>
            <a:xfrm>
              <a:off x="7812047" y="4153807"/>
              <a:ext cx="715511" cy="554700"/>
              <a:chOff x="7812047" y="4153807"/>
              <a:chExt cx="715511" cy="554700"/>
            </a:xfrm>
          </p:grpSpPr>
          <p:sp>
            <p:nvSpPr>
              <p:cNvPr id="2481" name="Google Shape;2481;p45"/>
              <p:cNvSpPr/>
              <p:nvPr/>
            </p:nvSpPr>
            <p:spPr>
              <a:xfrm rot="5400000">
                <a:off x="7954858" y="4135807"/>
                <a:ext cx="554700" cy="59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Google Shape;2482;p45"/>
              <p:cNvSpPr/>
              <p:nvPr/>
            </p:nvSpPr>
            <p:spPr>
              <a:xfrm>
                <a:off x="7812047" y="4228209"/>
                <a:ext cx="86400" cy="339300"/>
              </a:xfrm>
              <a:prstGeom prst="rect">
                <a:avLst/>
              </a:pr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3" name="Google Shape;2483;p45"/>
            <p:cNvSpPr/>
            <p:nvPr/>
          </p:nvSpPr>
          <p:spPr>
            <a:xfrm rot="5400000">
              <a:off x="7954936" y="4082311"/>
              <a:ext cx="554700" cy="59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1E79D43F-C8C4-99FE-21D6-D42EEC61F366}"/>
              </a:ext>
            </a:extLst>
          </p:cNvPr>
          <p:cNvSpPr txBox="1">
            <a:spLocks/>
          </p:cNvSpPr>
          <p:nvPr/>
        </p:nvSpPr>
        <p:spPr>
          <a:xfrm>
            <a:off x="539550" y="2059548"/>
            <a:ext cx="8064900" cy="1862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pectral"/>
              <a:buChar char="●"/>
              <a:defRPr sz="1400" b="1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●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○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tral"/>
              <a:buChar char="■"/>
              <a:defRPr sz="1400" b="0" i="0" u="none" strike="noStrike" cap="none">
                <a:solidFill>
                  <a:schemeClr val="dk1"/>
                </a:solidFill>
                <a:latin typeface="Spectral"/>
                <a:ea typeface="Spectral"/>
                <a:cs typeface="Spectral"/>
                <a:sym typeface="Spectral"/>
              </a:defRPr>
            </a:lvl9pPr>
          </a:lstStyle>
          <a:p>
            <a:pPr>
              <a:lnSpc>
                <a:spcPct val="150000"/>
              </a:lnSpc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Grid search – </a:t>
            </a:r>
            <a:r>
              <a:rPr lang="en-RO" sz="1800" b="0" dirty="0">
                <a:solidFill>
                  <a:schemeClr val="bg1">
                    <a:lumMod val="10000"/>
                  </a:schemeClr>
                </a:solidFill>
              </a:rPr>
              <a:t>Foarte utilă la începutul experimentării cu orice algoritm de inteligență artificială.</a:t>
            </a:r>
          </a:p>
          <a:p>
            <a:pPr>
              <a:lnSpc>
                <a:spcPct val="150000"/>
              </a:lnSpc>
            </a:pPr>
            <a:r>
              <a:rPr lang="en-RO" sz="1800" dirty="0">
                <a:solidFill>
                  <a:schemeClr val="bg1">
                    <a:lumMod val="10000"/>
                  </a:schemeClr>
                </a:solidFill>
              </a:rPr>
              <a:t>Random search </a:t>
            </a:r>
          </a:p>
          <a:p>
            <a:pPr>
              <a:lnSpc>
                <a:spcPct val="150000"/>
              </a:lnSpc>
            </a:pPr>
            <a:r>
              <a:rPr lang="en-GB" sz="1800" i="1" dirty="0">
                <a:solidFill>
                  <a:schemeClr val="bg1">
                    <a:lumMod val="10000"/>
                  </a:schemeClr>
                </a:solidFill>
                <a:hlinkClick r:id="rId3"/>
              </a:rPr>
              <a:t>Ray.tune: Hyperparameter Optimization Framework</a:t>
            </a:r>
            <a:endParaRPr lang="en-RO" sz="1800" i="1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261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1"/>
          <p:cNvSpPr/>
          <p:nvPr/>
        </p:nvSpPr>
        <p:spPr>
          <a:xfrm>
            <a:off x="2268625" y="341000"/>
            <a:ext cx="4609200" cy="260893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sp>
        <p:nvSpPr>
          <p:cNvPr id="2988" name="Google Shape;2988;p61"/>
          <p:cNvSpPr txBox="1">
            <a:spLocks noGrp="1"/>
          </p:cNvSpPr>
          <p:nvPr>
            <p:ph type="title"/>
          </p:nvPr>
        </p:nvSpPr>
        <p:spPr>
          <a:xfrm>
            <a:off x="2637725" y="387576"/>
            <a:ext cx="3866700" cy="85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noProof="0" dirty="0" err="1"/>
              <a:t>Thanks</a:t>
            </a:r>
            <a:r>
              <a:rPr lang="ro-RO" noProof="0" dirty="0"/>
              <a:t>!</a:t>
            </a:r>
          </a:p>
        </p:txBody>
      </p:sp>
      <p:sp>
        <p:nvSpPr>
          <p:cNvPr id="2989" name="Google Shape;2989;p61"/>
          <p:cNvSpPr txBox="1">
            <a:spLocks noGrp="1"/>
          </p:cNvSpPr>
          <p:nvPr>
            <p:ph type="subTitle" idx="1"/>
          </p:nvPr>
        </p:nvSpPr>
        <p:spPr>
          <a:xfrm>
            <a:off x="2981375" y="1154172"/>
            <a:ext cx="3179400" cy="11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Este timpul pentru întrebări!!!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Acum…sau pe email: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lang="ro-RO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ro-RO" noProof="0" dirty="0"/>
              <a:t>stefan.iordache10@s.unibuc.ro </a:t>
            </a:r>
          </a:p>
        </p:txBody>
      </p:sp>
      <p:grpSp>
        <p:nvGrpSpPr>
          <p:cNvPr id="3011" name="Google Shape;3011;p61"/>
          <p:cNvGrpSpPr/>
          <p:nvPr/>
        </p:nvGrpSpPr>
        <p:grpSpPr>
          <a:xfrm flipH="1">
            <a:off x="6877836" y="1091403"/>
            <a:ext cx="1142790" cy="1480405"/>
            <a:chOff x="7465916" y="720492"/>
            <a:chExt cx="1139144" cy="1477450"/>
          </a:xfrm>
        </p:grpSpPr>
        <p:sp>
          <p:nvSpPr>
            <p:cNvPr id="3012" name="Google Shape;3012;p61"/>
            <p:cNvSpPr/>
            <p:nvPr/>
          </p:nvSpPr>
          <p:spPr>
            <a:xfrm rot="-5400000">
              <a:off x="7646560" y="123944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3" name="Google Shape;3013;p61"/>
            <p:cNvSpPr/>
            <p:nvPr/>
          </p:nvSpPr>
          <p:spPr>
            <a:xfrm rot="-5400000">
              <a:off x="7597172" y="114891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4" name="Google Shape;3014;p61"/>
            <p:cNvSpPr/>
            <p:nvPr/>
          </p:nvSpPr>
          <p:spPr>
            <a:xfrm rot="-5400000">
              <a:off x="7547783" y="105838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5" name="Google Shape;3015;p61"/>
            <p:cNvSpPr/>
            <p:nvPr/>
          </p:nvSpPr>
          <p:spPr>
            <a:xfrm rot="-5400000">
              <a:off x="7498394" y="96785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6" name="Google Shape;3016;p61"/>
            <p:cNvSpPr/>
            <p:nvPr/>
          </p:nvSpPr>
          <p:spPr>
            <a:xfrm rot="-5400000">
              <a:off x="7449005" y="87732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17" name="Google Shape;3017;p61"/>
            <p:cNvSpPr/>
            <p:nvPr/>
          </p:nvSpPr>
          <p:spPr>
            <a:xfrm rot="-5400000">
              <a:off x="7399616" y="786792"/>
              <a:ext cx="1024800" cy="892200"/>
            </a:xfrm>
            <a:prstGeom prst="flowChartDelay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grpSp>
        <p:nvGrpSpPr>
          <p:cNvPr id="3018" name="Google Shape;3018;p61"/>
          <p:cNvGrpSpPr/>
          <p:nvPr/>
        </p:nvGrpSpPr>
        <p:grpSpPr>
          <a:xfrm rot="10800000" flipH="1">
            <a:off x="391698" y="579321"/>
            <a:ext cx="1764041" cy="758764"/>
            <a:chOff x="6659230" y="279450"/>
            <a:chExt cx="2217246" cy="953700"/>
          </a:xfrm>
        </p:grpSpPr>
        <p:sp>
          <p:nvSpPr>
            <p:cNvPr id="3019" name="Google Shape;3019;p61"/>
            <p:cNvSpPr/>
            <p:nvPr/>
          </p:nvSpPr>
          <p:spPr>
            <a:xfrm>
              <a:off x="6659230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0" name="Google Shape;3020;p61"/>
            <p:cNvSpPr/>
            <p:nvPr/>
          </p:nvSpPr>
          <p:spPr>
            <a:xfrm>
              <a:off x="6892279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1" name="Google Shape;3021;p61"/>
            <p:cNvSpPr/>
            <p:nvPr/>
          </p:nvSpPr>
          <p:spPr>
            <a:xfrm>
              <a:off x="7235778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2" name="Google Shape;3022;p61"/>
            <p:cNvSpPr/>
            <p:nvPr/>
          </p:nvSpPr>
          <p:spPr>
            <a:xfrm>
              <a:off x="7579277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3" name="Google Shape;3023;p61"/>
            <p:cNvSpPr/>
            <p:nvPr/>
          </p:nvSpPr>
          <p:spPr>
            <a:xfrm>
              <a:off x="7922776" y="279450"/>
              <a:ext cx="953700" cy="95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4" name="Google Shape;3024;p61"/>
          <p:cNvSpPr/>
          <p:nvPr/>
        </p:nvSpPr>
        <p:spPr>
          <a:xfrm flipH="1">
            <a:off x="7818180" y="883420"/>
            <a:ext cx="429900" cy="418200"/>
          </a:xfrm>
          <a:prstGeom prst="star4">
            <a:avLst>
              <a:gd name="adj" fmla="val 12500"/>
            </a:avLst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  <p:grpSp>
        <p:nvGrpSpPr>
          <p:cNvPr id="3025" name="Google Shape;3025;p61"/>
          <p:cNvGrpSpPr/>
          <p:nvPr/>
        </p:nvGrpSpPr>
        <p:grpSpPr>
          <a:xfrm>
            <a:off x="1839602" y="1617067"/>
            <a:ext cx="637648" cy="658500"/>
            <a:chOff x="1839602" y="1617067"/>
            <a:chExt cx="637648" cy="658500"/>
          </a:xfrm>
        </p:grpSpPr>
        <p:sp>
          <p:nvSpPr>
            <p:cNvPr id="3026" name="Google Shape;3026;p61"/>
            <p:cNvSpPr/>
            <p:nvPr/>
          </p:nvSpPr>
          <p:spPr>
            <a:xfrm flipH="1">
              <a:off x="2047351" y="1617067"/>
              <a:ext cx="429900" cy="418200"/>
            </a:xfrm>
            <a:prstGeom prst="star4">
              <a:avLst>
                <a:gd name="adj" fmla="val 12500"/>
              </a:avLst>
            </a:pr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  <p:sp>
          <p:nvSpPr>
            <p:cNvPr id="3027" name="Google Shape;3027;p61"/>
            <p:cNvSpPr/>
            <p:nvPr/>
          </p:nvSpPr>
          <p:spPr>
            <a:xfrm flipH="1">
              <a:off x="1839602" y="2035267"/>
              <a:ext cx="246900" cy="240300"/>
            </a:xfrm>
            <a:prstGeom prst="star4">
              <a:avLst>
                <a:gd name="adj" fmla="val 12500"/>
              </a:avLst>
            </a:pr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ro-RO" noProof="0" dirty="0"/>
            </a:p>
          </p:txBody>
        </p:sp>
      </p:grpSp>
      <p:sp>
        <p:nvSpPr>
          <p:cNvPr id="3028" name="Google Shape;3028;p61"/>
          <p:cNvSpPr/>
          <p:nvPr/>
        </p:nvSpPr>
        <p:spPr>
          <a:xfrm flipH="1">
            <a:off x="975250" y="4294400"/>
            <a:ext cx="281100" cy="2736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 Paper Style Thesis by Slidesgo">
  <a:themeElements>
    <a:clrScheme name="Simple Light">
      <a:dk1>
        <a:srgbClr val="434343"/>
      </a:dk1>
      <a:lt1>
        <a:srgbClr val="F3F3F3"/>
      </a:lt1>
      <a:dk2>
        <a:srgbClr val="B7B7B7"/>
      </a:dk2>
      <a:lt2>
        <a:srgbClr val="859477"/>
      </a:lt2>
      <a:accent1>
        <a:srgbClr val="D9997D"/>
      </a:accent1>
      <a:accent2>
        <a:srgbClr val="F2C2A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06dbadc-5ebd-4821-b299-ce6b9eaad42b">
      <Terms xmlns="http://schemas.microsoft.com/office/infopath/2007/PartnerControls"/>
    </lcf76f155ced4ddcb4097134ff3c332f>
    <TaxCatchAll xmlns="a519f88a-14ae-4969-bd47-81d0c9591b2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15" ma:contentTypeDescription="Create a new document." ma:contentTypeScope="" ma:versionID="d24b5e8460b670d5001f38c76465b885">
  <xsd:schema xmlns:xsd="http://www.w3.org/2001/XMLSchema" xmlns:xs="http://www.w3.org/2001/XMLSchema" xmlns:p="http://schemas.microsoft.com/office/2006/metadata/properties" xmlns:ns2="d06dbadc-5ebd-4821-b299-ce6b9eaad42b" xmlns:ns3="a519f88a-14ae-4969-bd47-81d0c9591b2c" targetNamespace="http://schemas.microsoft.com/office/2006/metadata/properties" ma:root="true" ma:fieldsID="c7537ff7f3acdbf5ba368d7f81427441" ns2:_="" ns3:_="">
    <xsd:import namespace="d06dbadc-5ebd-4821-b299-ce6b9eaad42b"/>
    <xsd:import namespace="a519f88a-14ae-4969-bd47-81d0c9591b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19f88a-14ae-4969-bd47-81d0c9591b2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917cf12-c4b0-4164-92f7-80e199fa05bf}" ma:internalName="TaxCatchAll" ma:showField="CatchAllData" ma:web="a519f88a-14ae-4969-bd47-81d0c9591b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3E75CE-3BD1-43CB-9ABA-27E9F8EDA5E1}">
  <ds:schemaRefs>
    <ds:schemaRef ds:uri="a519f88a-14ae-4969-bd47-81d0c9591b2c"/>
    <ds:schemaRef ds:uri="d06dbadc-5ebd-4821-b299-ce6b9eaad42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5DDB2D4-D430-41A8-B7BE-4AD728CA07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A51256-0310-4940-8D3E-B6E8F8E50F49}"/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607</Words>
  <Application>Microsoft Macintosh PowerPoint</Application>
  <PresentationFormat>On-screen Show (16:9)</PresentationFormat>
  <Paragraphs>109</Paragraphs>
  <Slides>35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Merriweather;900</vt:lpstr>
      <vt:lpstr>Arial</vt:lpstr>
      <vt:lpstr>Times New Roman</vt:lpstr>
      <vt:lpstr>Merriweather Black</vt:lpstr>
      <vt:lpstr>Cambria Math</vt:lpstr>
      <vt:lpstr>Spectral</vt:lpstr>
      <vt:lpstr>Merriweather</vt:lpstr>
      <vt:lpstr>Spectral Light</vt:lpstr>
      <vt:lpstr>Graph Paper Style Thesis by Slidesgo</vt:lpstr>
      <vt:lpstr>Introducere în Reinforcement Learning</vt:lpstr>
      <vt:lpstr>Cuprins</vt:lpstr>
      <vt:lpstr>Recapitulare</vt:lpstr>
      <vt:lpstr>Algoritmul #1 – Value Iteration</vt:lpstr>
      <vt:lpstr>Algoritmul #2 – Abstract Multi-Armed Bandit</vt:lpstr>
      <vt:lpstr>Algoritmul #3 – Monte-Carlo</vt:lpstr>
      <vt:lpstr>Algoritmul #3 – Monte-Carlo - Sampling</vt:lpstr>
      <vt:lpstr>PowerPoint Presentation</vt:lpstr>
      <vt:lpstr>PowerPoint Presentation</vt:lpstr>
      <vt:lpstr>On-Policy MC</vt:lpstr>
      <vt:lpstr>On-Policy vs Off-Policy</vt:lpstr>
      <vt:lpstr>PowerPoint Presentation</vt:lpstr>
      <vt:lpstr>Îmbunătățiri: V(s) vs. Q(s, a)</vt:lpstr>
      <vt:lpstr>PowerPoint Presentation</vt:lpstr>
      <vt:lpstr>Teoremă!   Pentru orice politică ε-greedy π, politica π’ obținută cu ajutorul qπ este o îmbunătățire față de politica anterioară, v_(π^′ ) (s)≥ v_π (s).  </vt:lpstr>
      <vt:lpstr>PowerPoint Presentation</vt:lpstr>
      <vt:lpstr>PowerPoint Presentation</vt:lpstr>
      <vt:lpstr>On-Policy TD</vt:lpstr>
      <vt:lpstr>Ce este Temporal Difference?</vt:lpstr>
      <vt:lpstr>MC vs. TD</vt:lpstr>
      <vt:lpstr>MC vs. TD</vt:lpstr>
      <vt:lpstr>SARSA(λ)  </vt:lpstr>
      <vt:lpstr>PowerPoint Presentation</vt:lpstr>
      <vt:lpstr>n-Step SARSA</vt:lpstr>
      <vt:lpstr>n-Step SARSA</vt:lpstr>
      <vt:lpstr>Q-learning</vt:lpstr>
      <vt:lpstr>Ce este Q-Learning?</vt:lpstr>
      <vt:lpstr>De ce să folosim Q-Learning?</vt:lpstr>
      <vt:lpstr>De ce se numește Q-Learning?  Q = Quality (cât de utilă este o acțiune pentru rezultate viitoare?) </vt:lpstr>
      <vt:lpstr>PowerPoint Presentation</vt:lpstr>
      <vt:lpstr>Q-Learning– Algoritmul!</vt:lpstr>
      <vt:lpstr>Q-Learning– Grid World</vt:lpstr>
      <vt:lpstr>Hiperparametri - Descriere</vt:lpstr>
      <vt:lpstr>Hiperparametri - Tuning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Introducere în Reinforcement Learning</dc:title>
  <cp:lastModifiedBy>Stefan Iordache</cp:lastModifiedBy>
  <cp:revision>28</cp:revision>
  <dcterms:modified xsi:type="dcterms:W3CDTF">2025-11-05T05:03:58Z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  <property fmtid="{D5CDD505-2E9C-101B-9397-08002B2CF9AE}" pid="3" name="MediaServiceImageTags">
    <vt:lpwstr/>
  </property>
</Properties>
</file>