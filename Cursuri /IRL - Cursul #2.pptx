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4"/>
  </p:sldMasterIdLst>
  <p:notesMasterIdLst>
    <p:notesMasterId r:id="rId33"/>
  </p:notesMasterIdLst>
  <p:sldIdLst>
    <p:sldId id="332" r:id="rId5"/>
    <p:sldId id="259" r:id="rId6"/>
    <p:sldId id="260" r:id="rId7"/>
    <p:sldId id="315" r:id="rId8"/>
    <p:sldId id="334" r:id="rId9"/>
    <p:sldId id="335" r:id="rId10"/>
    <p:sldId id="336" r:id="rId11"/>
    <p:sldId id="318" r:id="rId12"/>
    <p:sldId id="319" r:id="rId13"/>
    <p:sldId id="323" r:id="rId14"/>
    <p:sldId id="320" r:id="rId15"/>
    <p:sldId id="347" r:id="rId16"/>
    <p:sldId id="321" r:id="rId17"/>
    <p:sldId id="322" r:id="rId18"/>
    <p:sldId id="324" r:id="rId19"/>
    <p:sldId id="348" r:id="rId20"/>
    <p:sldId id="328" r:id="rId21"/>
    <p:sldId id="261" r:id="rId22"/>
    <p:sldId id="327" r:id="rId23"/>
    <p:sldId id="329" r:id="rId24"/>
    <p:sldId id="330" r:id="rId25"/>
    <p:sldId id="339" r:id="rId26"/>
    <p:sldId id="344" r:id="rId27"/>
    <p:sldId id="338" r:id="rId28"/>
    <p:sldId id="337" r:id="rId29"/>
    <p:sldId id="345" r:id="rId30"/>
    <p:sldId id="346" r:id="rId31"/>
    <p:sldId id="284" r:id="rId3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4"/>
    </p:embeddedFont>
    <p:embeddedFont>
      <p:font typeface="Merriweather" pitchFamily="2" charset="77"/>
      <p:regular r:id="rId35"/>
      <p:bold r:id="rId36"/>
      <p:italic r:id="rId37"/>
      <p:boldItalic r:id="rId38"/>
    </p:embeddedFont>
    <p:embeddedFont>
      <p:font typeface="Merriweather Black" panose="00000A00000000000000" pitchFamily="2" charset="77"/>
      <p:bold r:id="rId39"/>
      <p:italic r:id="rId40"/>
      <p:boldItalic r:id="rId41"/>
    </p:embeddedFont>
    <p:embeddedFont>
      <p:font typeface="Spectral" panose="02020502060000000000" pitchFamily="18" charset="77"/>
      <p:regular r:id="rId42"/>
      <p:bold r:id="rId43"/>
      <p:italic r:id="rId44"/>
      <p:boldItalic r:id="rId45"/>
    </p:embeddedFont>
    <p:embeddedFont>
      <p:font typeface="Spectral Light" panose="02020302060000000000" pitchFamily="18" charset="77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22B902-2256-0B0D-D34C-7ED48DB08920}" v="5" dt="2024-10-14T14:05:48.908"/>
    <p1510:client id="{5EEFF53E-3516-410E-8561-C8AD52FF1C81}" v="6" dt="2024-10-14T09:41:26.793"/>
    <p1510:client id="{C7B931E5-A5E3-8F0B-C9F4-EF2F88C80BC1}" v="3" dt="2024-10-15T13:28:03.520"/>
    <p1510:client id="{F55B5ACE-0A63-4840-9732-7CC127368099}" v="4" dt="2024-10-14T09:49:41.020"/>
  </p1510:revLst>
</p1510:revInfo>
</file>

<file path=ppt/tableStyles.xml><?xml version="1.0" encoding="utf-8"?>
<a:tblStyleLst xmlns:a="http://schemas.openxmlformats.org/drawingml/2006/main" def="{8E613FF8-4EB2-4734-8CC8-9E79C4818E73}">
  <a:tblStyle styleId="{8E613FF8-4EB2-4734-8CC8-9E79C4818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5"/>
    <p:restoredTop sz="94635"/>
  </p:normalViewPr>
  <p:slideViewPr>
    <p:cSldViewPr snapToGrid="0">
      <p:cViewPr varScale="1">
        <p:scale>
          <a:sx n="152" d="100"/>
          <a:sy n="152" d="100"/>
        </p:scale>
        <p:origin x="192" y="8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6.fntdata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1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6.xml"/><Relationship Id="rId41" Type="http://schemas.openxmlformats.org/officeDocument/2006/relationships/font" Target="fonts/font8.fntdata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49" Type="http://schemas.openxmlformats.org/officeDocument/2006/relationships/font" Target="fonts/font1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MARIA VULTUR" userId="S::sofia.vultur@s.unibuc.ro::6c7158df-1e76-4490-a8ad-29ce599c3ba2" providerId="AD" clId="Web-{63731BED-BB5E-4001-9779-484298527014}"/>
    <pc:docChg chg="modSld">
      <pc:chgData name="SOFIA MARIA VULTUR" userId="S::sofia.vultur@s.unibuc.ro::6c7158df-1e76-4490-a8ad-29ce599c3ba2" providerId="AD" clId="Web-{63731BED-BB5E-4001-9779-484298527014}" dt="2023-02-05T21:40:26.292" v="0" actId="1076"/>
      <pc:docMkLst>
        <pc:docMk/>
      </pc:docMkLst>
      <pc:sldChg chg="modSp">
        <pc:chgData name="SOFIA MARIA VULTUR" userId="S::sofia.vultur@s.unibuc.ro::6c7158df-1e76-4490-a8ad-29ce599c3ba2" providerId="AD" clId="Web-{63731BED-BB5E-4001-9779-484298527014}" dt="2023-02-05T21:40:26.292" v="0" actId="1076"/>
        <pc:sldMkLst>
          <pc:docMk/>
          <pc:sldMk cId="3261636102" sldId="327"/>
        </pc:sldMkLst>
        <pc:spChg chg="mod">
          <ac:chgData name="SOFIA MARIA VULTUR" userId="S::sofia.vultur@s.unibuc.ro::6c7158df-1e76-4490-a8ad-29ce599c3ba2" providerId="AD" clId="Web-{63731BED-BB5E-4001-9779-484298527014}" dt="2023-02-05T21:40:26.292" v="0" actId="1076"/>
          <ac:spMkLst>
            <pc:docMk/>
            <pc:sldMk cId="3261636102" sldId="327"/>
            <ac:spMk id="3" creationId="{291B36AB-2BC4-428A-6357-8AA069095418}"/>
          </ac:spMkLst>
        </pc:spChg>
      </pc:sldChg>
    </pc:docChg>
  </pc:docChgLst>
  <pc:docChgLst>
    <pc:chgData name="MIHAI GRIGORE" userId="S::mihai.grigore1@s.unibuc.ro::d086a1d6-5462-4979-abc6-1c81b0fc9ea8" providerId="AD" clId="Web-{0D22B902-2256-0B0D-D34C-7ED48DB08920}"/>
    <pc:docChg chg="modSld">
      <pc:chgData name="MIHAI GRIGORE" userId="S::mihai.grigore1@s.unibuc.ro::d086a1d6-5462-4979-abc6-1c81b0fc9ea8" providerId="AD" clId="Web-{0D22B902-2256-0B0D-D34C-7ED48DB08920}" dt="2024-10-14T14:05:48.908" v="4" actId="1076"/>
      <pc:docMkLst>
        <pc:docMk/>
      </pc:docMkLst>
      <pc:sldChg chg="modSp">
        <pc:chgData name="MIHAI GRIGORE" userId="S::mihai.grigore1@s.unibuc.ro::d086a1d6-5462-4979-abc6-1c81b0fc9ea8" providerId="AD" clId="Web-{0D22B902-2256-0B0D-D34C-7ED48DB08920}" dt="2024-10-14T14:05:48.908" v="4" actId="1076"/>
        <pc:sldMkLst>
          <pc:docMk/>
          <pc:sldMk cId="3261636102" sldId="327"/>
        </pc:sldMkLst>
        <pc:spChg chg="mod">
          <ac:chgData name="MIHAI GRIGORE" userId="S::mihai.grigore1@s.unibuc.ro::d086a1d6-5462-4979-abc6-1c81b0fc9ea8" providerId="AD" clId="Web-{0D22B902-2256-0B0D-D34C-7ED48DB08920}" dt="2024-10-14T14:05:48.908" v="4" actId="1076"/>
          <ac:spMkLst>
            <pc:docMk/>
            <pc:sldMk cId="3261636102" sldId="327"/>
            <ac:spMk id="3" creationId="{291B36AB-2BC4-428A-6357-8AA069095418}"/>
          </ac:spMkLst>
        </pc:spChg>
      </pc:sldChg>
      <pc:sldChg chg="modSp">
        <pc:chgData name="MIHAI GRIGORE" userId="S::mihai.grigore1@s.unibuc.ro::d086a1d6-5462-4979-abc6-1c81b0fc9ea8" providerId="AD" clId="Web-{0D22B902-2256-0B0D-D34C-7ED48DB08920}" dt="2024-10-14T14:03:22.794" v="2" actId="1076"/>
        <pc:sldMkLst>
          <pc:docMk/>
          <pc:sldMk cId="2574459133" sldId="330"/>
        </pc:sldMkLst>
        <pc:spChg chg="mod">
          <ac:chgData name="MIHAI GRIGORE" userId="S::mihai.grigore1@s.unibuc.ro::d086a1d6-5462-4979-abc6-1c81b0fc9ea8" providerId="AD" clId="Web-{0D22B902-2256-0B0D-D34C-7ED48DB08920}" dt="2024-10-14T14:03:22.794" v="2" actId="1076"/>
          <ac:spMkLst>
            <pc:docMk/>
            <pc:sldMk cId="2574459133" sldId="330"/>
            <ac:spMk id="3" creationId="{291B36AB-2BC4-428A-6357-8AA069095418}"/>
          </ac:spMkLst>
        </pc:spChg>
      </pc:sldChg>
    </pc:docChg>
  </pc:docChgLst>
  <pc:docChgLst>
    <pc:chgData name="STEFAN IORDACHE" userId="S::stefan.iordache10@s.unibuc.ro::9dd8811d-5cc1-4677-ba15-8e8defdbcdf9" providerId="AD" clId="Web-{5EEFF53E-3516-410E-8561-C8AD52FF1C81}"/>
    <pc:docChg chg="modSld">
      <pc:chgData name="STEFAN IORDACHE" userId="S::stefan.iordache10@s.unibuc.ro::9dd8811d-5cc1-4677-ba15-8e8defdbcdf9" providerId="AD" clId="Web-{5EEFF53E-3516-410E-8561-C8AD52FF1C81}" dt="2024-10-14T09:41:26.793" v="4" actId="1076"/>
      <pc:docMkLst>
        <pc:docMk/>
      </pc:docMkLst>
      <pc:sldChg chg="modSp">
        <pc:chgData name="STEFAN IORDACHE" userId="S::stefan.iordache10@s.unibuc.ro::9dd8811d-5cc1-4677-ba15-8e8defdbcdf9" providerId="AD" clId="Web-{5EEFF53E-3516-410E-8561-C8AD52FF1C81}" dt="2024-10-14T09:32:58.386" v="3" actId="20577"/>
        <pc:sldMkLst>
          <pc:docMk/>
          <pc:sldMk cId="0" sldId="256"/>
        </pc:sldMkLst>
        <pc:spChg chg="mod">
          <ac:chgData name="STEFAN IORDACHE" userId="S::stefan.iordache10@s.unibuc.ro::9dd8811d-5cc1-4677-ba15-8e8defdbcdf9" providerId="AD" clId="Web-{5EEFF53E-3516-410E-8561-C8AD52FF1C81}" dt="2024-10-14T09:32:58.386" v="3" actId="20577"/>
          <ac:spMkLst>
            <pc:docMk/>
            <pc:sldMk cId="0" sldId="256"/>
            <ac:spMk id="2080" creationId="{00000000-0000-0000-0000-000000000000}"/>
          </ac:spMkLst>
        </pc:spChg>
      </pc:sldChg>
      <pc:sldChg chg="modSp">
        <pc:chgData name="STEFAN IORDACHE" userId="S::stefan.iordache10@s.unibuc.ro::9dd8811d-5cc1-4677-ba15-8e8defdbcdf9" providerId="AD" clId="Web-{5EEFF53E-3516-410E-8561-C8AD52FF1C81}" dt="2024-10-14T09:41:26.793" v="4" actId="1076"/>
        <pc:sldMkLst>
          <pc:docMk/>
          <pc:sldMk cId="2400012068" sldId="322"/>
        </pc:sldMkLst>
        <pc:spChg chg="mod">
          <ac:chgData name="STEFAN IORDACHE" userId="S::stefan.iordache10@s.unibuc.ro::9dd8811d-5cc1-4677-ba15-8e8defdbcdf9" providerId="AD" clId="Web-{5EEFF53E-3516-410E-8561-C8AD52FF1C81}" dt="2024-10-14T09:41:26.793" v="4" actId="1076"/>
          <ac:spMkLst>
            <pc:docMk/>
            <pc:sldMk cId="2400012068" sldId="322"/>
            <ac:spMk id="2" creationId="{B9CA8832-B04E-3F6F-64C4-188FD1EA8517}"/>
          </ac:spMkLst>
        </pc:spChg>
      </pc:sldChg>
    </pc:docChg>
  </pc:docChgLst>
  <pc:docChgLst>
    <pc:chgData name="STEFAN IORDACHE" userId="S::stefan.iordache10@s.unibuc.ro::9dd8811d-5cc1-4677-ba15-8e8defdbcdf9" providerId="AD" clId="Web-{F55B5ACE-0A63-4840-9732-7CC127368099}"/>
    <pc:docChg chg="delSld modSld">
      <pc:chgData name="STEFAN IORDACHE" userId="S::stefan.iordache10@s.unibuc.ro::9dd8811d-5cc1-4677-ba15-8e8defdbcdf9" providerId="AD" clId="Web-{F55B5ACE-0A63-4840-9732-7CC127368099}" dt="2024-10-14T09:49:41.020" v="3" actId="20577"/>
      <pc:docMkLst>
        <pc:docMk/>
      </pc:docMkLst>
      <pc:sldChg chg="del">
        <pc:chgData name="STEFAN IORDACHE" userId="S::stefan.iordache10@s.unibuc.ro::9dd8811d-5cc1-4677-ba15-8e8defdbcdf9" providerId="AD" clId="Web-{F55B5ACE-0A63-4840-9732-7CC127368099}" dt="2024-10-14T09:43:01.258" v="0"/>
        <pc:sldMkLst>
          <pc:docMk/>
          <pc:sldMk cId="1113113595" sldId="326"/>
        </pc:sldMkLst>
      </pc:sldChg>
      <pc:sldChg chg="modSp">
        <pc:chgData name="STEFAN IORDACHE" userId="S::stefan.iordache10@s.unibuc.ro::9dd8811d-5cc1-4677-ba15-8e8defdbcdf9" providerId="AD" clId="Web-{F55B5ACE-0A63-4840-9732-7CC127368099}" dt="2024-10-14T09:49:41.020" v="3" actId="20577"/>
        <pc:sldMkLst>
          <pc:docMk/>
          <pc:sldMk cId="0" sldId="331"/>
        </pc:sldMkLst>
        <pc:spChg chg="mod">
          <ac:chgData name="STEFAN IORDACHE" userId="S::stefan.iordache10@s.unibuc.ro::9dd8811d-5cc1-4677-ba15-8e8defdbcdf9" providerId="AD" clId="Web-{F55B5ACE-0A63-4840-9732-7CC127368099}" dt="2024-10-14T09:49:41.020" v="3" actId="20577"/>
          <ac:spMkLst>
            <pc:docMk/>
            <pc:sldMk cId="0" sldId="331"/>
            <ac:spMk id="2989" creationId="{00000000-0000-0000-0000-000000000000}"/>
          </ac:spMkLst>
        </pc:spChg>
      </pc:sldChg>
    </pc:docChg>
  </pc:docChgLst>
  <pc:docChgLst>
    <pc:chgData name="OCTAVIAN ANDREI MACELARU" userId="S::octavian-andrei.macelaru@s.unibuc.ro::44fc2c80-4820-461b-97b8-22b51db84c76" providerId="AD" clId="Web-{C7B931E5-A5E3-8F0B-C9F4-EF2F88C80BC1}"/>
    <pc:docChg chg="modSld">
      <pc:chgData name="OCTAVIAN ANDREI MACELARU" userId="S::octavian-andrei.macelaru@s.unibuc.ro::44fc2c80-4820-461b-97b8-22b51db84c76" providerId="AD" clId="Web-{C7B931E5-A5E3-8F0B-C9F4-EF2F88C80BC1}" dt="2024-10-15T13:28:01.598" v="1" actId="20577"/>
      <pc:docMkLst>
        <pc:docMk/>
      </pc:docMkLst>
      <pc:sldChg chg="modSp">
        <pc:chgData name="OCTAVIAN ANDREI MACELARU" userId="S::octavian-andrei.macelaru@s.unibuc.ro::44fc2c80-4820-461b-97b8-22b51db84c76" providerId="AD" clId="Web-{C7B931E5-A5E3-8F0B-C9F4-EF2F88C80BC1}" dt="2024-10-15T13:28:01.598" v="1" actId="20577"/>
        <pc:sldMkLst>
          <pc:docMk/>
          <pc:sldMk cId="0" sldId="260"/>
        </pc:sldMkLst>
        <pc:spChg chg="mod">
          <ac:chgData name="OCTAVIAN ANDREI MACELARU" userId="S::octavian-andrei.macelaru@s.unibuc.ro::44fc2c80-4820-461b-97b8-22b51db84c76" providerId="AD" clId="Web-{C7B931E5-A5E3-8F0B-C9F4-EF2F88C80BC1}" dt="2024-10-15T13:28:01.598" v="1" actId="20577"/>
          <ac:spMkLst>
            <pc:docMk/>
            <pc:sldMk cId="0" sldId="260"/>
            <ac:spMk id="2191" creationId="{00000000-0000-0000-0000-000000000000}"/>
          </ac:spMkLst>
        </pc:spChg>
      </pc:sldChg>
    </pc:docChg>
  </pc:docChgLst>
  <pc:docChgLst>
    <pc:chgData name="IULIAN ROBERT ROMAN" userId="S::iulian.roman@s.unibuc.ro::d336a366-996d-4a57-8b6f-68e4eb3c3f73" providerId="AD" clId="Web-{627CA9EA-00CB-40F5-90A7-35DF55141584}"/>
    <pc:docChg chg="modSld">
      <pc:chgData name="IULIAN ROBERT ROMAN" userId="S::iulian.roman@s.unibuc.ro::d336a366-996d-4a57-8b6f-68e4eb3c3f73" providerId="AD" clId="Web-{627CA9EA-00CB-40F5-90A7-35DF55141584}" dt="2023-05-11T17:05:09.923" v="2" actId="1076"/>
      <pc:docMkLst>
        <pc:docMk/>
      </pc:docMkLst>
      <pc:sldChg chg="modSp">
        <pc:chgData name="IULIAN ROBERT ROMAN" userId="S::iulian.roman@s.unibuc.ro::d336a366-996d-4a57-8b6f-68e4eb3c3f73" providerId="AD" clId="Web-{627CA9EA-00CB-40F5-90A7-35DF55141584}" dt="2023-05-11T17:05:09.923" v="2" actId="1076"/>
        <pc:sldMkLst>
          <pc:docMk/>
          <pc:sldMk cId="2335724577" sldId="321"/>
        </pc:sldMkLst>
        <pc:spChg chg="mod">
          <ac:chgData name="IULIAN ROBERT ROMAN" userId="S::iulian.roman@s.unibuc.ro::d336a366-996d-4a57-8b6f-68e4eb3c3f73" providerId="AD" clId="Web-{627CA9EA-00CB-40F5-90A7-35DF55141584}" dt="2023-05-11T17:05:09.923" v="2" actId="1076"/>
          <ac:spMkLst>
            <pc:docMk/>
            <pc:sldMk cId="2335724577" sldId="321"/>
            <ac:spMk id="2" creationId="{4B1FC6B7-80D2-C09C-7BEC-750E32DD86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131cd8db3c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5" name="Google Shape;2145;g131cd8db3c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492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547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g132c0d347fb_0_1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3" name="Google Shape;2213;g132c0d347fb_0_1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g132c0d347fb_0_1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3" name="Google Shape;2213;g132c0d347fb_0_1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7435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4" name="Google Shape;2984;g132c0d347fb_0_19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5" name="Google Shape;2985;g132c0d347fb_0_19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1" name="Google Shape;1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2" name="Google Shape;1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" name="Google Shape;1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4" name="Google Shape;1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" name="Google Shape;1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" name="Google Shape;1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" name="Google Shape;1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" name="Google Shape;1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" name="Google Shape;2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1" name="Google Shape;2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2" name="Google Shape;2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2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" name="Google Shape;2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" name="Google Shape;2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" name="Google Shape;2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0" name="Google Shape;30;p2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31" name="Google Shape;3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2" name="Google Shape;3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3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" name="Google Shape;3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" name="Google Shape;3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" name="Google Shape;3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" name="Google Shape;3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" name="Google Shape;3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" name="Google Shape;3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" name="Google Shape;4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1" name="Google Shape;4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2" name="Google Shape;4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" name="Google Shape;4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" name="Google Shape;4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" name="Google Shape;4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" name="Google Shape;4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7" name="Google Shape;4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" name="Google Shape;4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" name="Google Shape;4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0" name="Google Shape;50;p2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1" name="Google Shape;5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" name="Google Shape;5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" name="Google Shape;5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" name="Google Shape;5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" name="Google Shape;5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" name="Google Shape;5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7" name="Google Shape;5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9" name="Google Shape;5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0" name="Google Shape;6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1" name="Google Shape;6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2" name="Google Shape;6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0" name="Google Shape;70;p2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71" name="Google Shape;7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72" name="Google Shape;7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1" name="Google Shape;8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82" name="Google Shape;8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1340625" y="1354950"/>
            <a:ext cx="6462600" cy="8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2269900" y="3689800"/>
            <a:ext cx="4605900" cy="36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950250" y="4644614"/>
            <a:ext cx="337500" cy="3291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428133" y="4321796"/>
            <a:ext cx="224700" cy="2190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3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96" name="Google Shape;96;p3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97" name="Google Shape;97;p3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" name="Google Shape;98;p3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3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3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3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2" name="Google Shape;102;p3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103" name="Google Shape;103;p3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3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3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3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07" name="Google Shape;107;p3"/>
          <p:cNvSpPr txBox="1">
            <a:spLocks noGrp="1"/>
          </p:cNvSpPr>
          <p:nvPr>
            <p:ph type="title" hasCustomPrompt="1"/>
          </p:nvPr>
        </p:nvSpPr>
        <p:spPr>
          <a:xfrm>
            <a:off x="2248150" y="539500"/>
            <a:ext cx="2298300" cy="1143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3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5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ubTitle" idx="1"/>
          </p:nvPr>
        </p:nvSpPr>
        <p:spPr>
          <a:xfrm>
            <a:off x="2242297" y="3984875"/>
            <a:ext cx="2298300" cy="58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10" name="Google Shape;110;p3"/>
          <p:cNvGrpSpPr/>
          <p:nvPr/>
        </p:nvGrpSpPr>
        <p:grpSpPr>
          <a:xfrm>
            <a:off x="431076" y="4267148"/>
            <a:ext cx="851140" cy="668466"/>
            <a:chOff x="431076" y="4267148"/>
            <a:chExt cx="851140" cy="668466"/>
          </a:xfrm>
        </p:grpSpPr>
        <p:sp>
          <p:nvSpPr>
            <p:cNvPr id="111" name="Google Shape;111;p3"/>
            <p:cNvSpPr/>
            <p:nvPr/>
          </p:nvSpPr>
          <p:spPr>
            <a:xfrm>
              <a:off x="943815" y="4267148"/>
              <a:ext cx="338400" cy="3312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431076" y="4704914"/>
              <a:ext cx="236700" cy="2307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" name="Google Shape;113;p3"/>
          <p:cNvGrpSpPr/>
          <p:nvPr/>
        </p:nvGrpSpPr>
        <p:grpSpPr>
          <a:xfrm>
            <a:off x="7914990" y="4444025"/>
            <a:ext cx="690064" cy="329108"/>
            <a:chOff x="7740700" y="4100311"/>
            <a:chExt cx="786936" cy="604089"/>
          </a:xfrm>
        </p:grpSpPr>
        <p:grpSp>
          <p:nvGrpSpPr>
            <p:cNvPr id="114" name="Google Shape;114;p3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115" name="Google Shape;115;p3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7" name="Google Shape;117;p3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p13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614" name="Google Shape;614;p13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615" name="Google Shape;61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16" name="Google Shape;61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7" name="Google Shape;61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8" name="Google Shape;61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9" name="Google Shape;61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0" name="Google Shape;62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1" name="Google Shape;62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2" name="Google Shape;62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3" name="Google Shape;62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4" name="Google Shape;62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25" name="Google Shape;62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26" name="Google Shape;62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7" name="Google Shape;62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8" name="Google Shape;62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9" name="Google Shape;62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0" name="Google Shape;63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1" name="Google Shape;63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2" name="Google Shape;63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3" name="Google Shape;63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34" name="Google Shape;634;p13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635" name="Google Shape;63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36" name="Google Shape;63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7" name="Google Shape;63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8" name="Google Shape;63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9" name="Google Shape;63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0" name="Google Shape;64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1" name="Google Shape;64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2" name="Google Shape;64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3" name="Google Shape;64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4" name="Google Shape;64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45" name="Google Shape;64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46" name="Google Shape;64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7" name="Google Shape;64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8" name="Google Shape;64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9" name="Google Shape;64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0" name="Google Shape;65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1" name="Google Shape;65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2" name="Google Shape;65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3" name="Google Shape;65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54" name="Google Shape;654;p13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655" name="Google Shape;65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56" name="Google Shape;65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7" name="Google Shape;65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8" name="Google Shape;65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9" name="Google Shape;65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0" name="Google Shape;66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1" name="Google Shape;66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2" name="Google Shape;66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3" name="Google Shape;66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4" name="Google Shape;66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65" name="Google Shape;66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66" name="Google Shape;66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7" name="Google Shape;66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8" name="Google Shape;66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9" name="Google Shape;66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0" name="Google Shape;67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1" name="Google Shape;67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2" name="Google Shape;67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3" name="Google Shape;67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74" name="Google Shape;674;p13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675" name="Google Shape;67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76" name="Google Shape;67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7" name="Google Shape;67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8" name="Google Shape;67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9" name="Google Shape;67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0" name="Google Shape;68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1" name="Google Shape;68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2" name="Google Shape;68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3" name="Google Shape;68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4" name="Google Shape;68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85" name="Google Shape;68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86" name="Google Shape;68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7" name="Google Shape;68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8" name="Google Shape;68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9" name="Google Shape;68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0" name="Google Shape;69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1" name="Google Shape;69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2" name="Google Shape;69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3" name="Google Shape;69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694" name="Google Shape;694;p13"/>
          <p:cNvSpPr/>
          <p:nvPr/>
        </p:nvSpPr>
        <p:spPr>
          <a:xfrm>
            <a:off x="540475" y="1455200"/>
            <a:ext cx="8063700" cy="334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13"/>
          <p:cNvSpPr txBox="1">
            <a:spLocks noGrp="1"/>
          </p:cNvSpPr>
          <p:nvPr>
            <p:ph type="title"/>
          </p:nvPr>
        </p:nvSpPr>
        <p:spPr>
          <a:xfrm>
            <a:off x="540475" y="342800"/>
            <a:ext cx="8062200" cy="74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696" name="Google Shape;696;p13"/>
          <p:cNvSpPr txBox="1">
            <a:spLocks noGrp="1"/>
          </p:cNvSpPr>
          <p:nvPr>
            <p:ph type="subTitle" idx="1"/>
          </p:nvPr>
        </p:nvSpPr>
        <p:spPr>
          <a:xfrm>
            <a:off x="1560930" y="156078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697" name="Google Shape;697;p13"/>
          <p:cNvSpPr txBox="1">
            <a:spLocks noGrp="1"/>
          </p:cNvSpPr>
          <p:nvPr>
            <p:ph type="subTitle" idx="2"/>
          </p:nvPr>
        </p:nvSpPr>
        <p:spPr>
          <a:xfrm>
            <a:off x="1560930" y="192648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p13"/>
          <p:cNvSpPr txBox="1">
            <a:spLocks noGrp="1"/>
          </p:cNvSpPr>
          <p:nvPr>
            <p:ph type="subTitle" idx="3"/>
          </p:nvPr>
        </p:nvSpPr>
        <p:spPr>
          <a:xfrm>
            <a:off x="1560930" y="2600306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699" name="Google Shape;699;p13"/>
          <p:cNvSpPr txBox="1">
            <a:spLocks noGrp="1"/>
          </p:cNvSpPr>
          <p:nvPr>
            <p:ph type="subTitle" idx="4"/>
          </p:nvPr>
        </p:nvSpPr>
        <p:spPr>
          <a:xfrm>
            <a:off x="1560930" y="2966011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13"/>
          <p:cNvSpPr txBox="1">
            <a:spLocks noGrp="1"/>
          </p:cNvSpPr>
          <p:nvPr>
            <p:ph type="subTitle" idx="5"/>
          </p:nvPr>
        </p:nvSpPr>
        <p:spPr>
          <a:xfrm>
            <a:off x="1560930" y="363983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1" name="Google Shape;701;p13"/>
          <p:cNvSpPr txBox="1">
            <a:spLocks noGrp="1"/>
          </p:cNvSpPr>
          <p:nvPr>
            <p:ph type="subTitle" idx="6"/>
          </p:nvPr>
        </p:nvSpPr>
        <p:spPr>
          <a:xfrm>
            <a:off x="1560930" y="400553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13"/>
          <p:cNvSpPr txBox="1">
            <a:spLocks noGrp="1"/>
          </p:cNvSpPr>
          <p:nvPr>
            <p:ph type="subTitle" idx="7"/>
          </p:nvPr>
        </p:nvSpPr>
        <p:spPr>
          <a:xfrm flipH="1">
            <a:off x="4745922" y="156078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3" name="Google Shape;703;p13"/>
          <p:cNvSpPr txBox="1">
            <a:spLocks noGrp="1"/>
          </p:cNvSpPr>
          <p:nvPr>
            <p:ph type="subTitle" idx="8"/>
          </p:nvPr>
        </p:nvSpPr>
        <p:spPr>
          <a:xfrm flipH="1">
            <a:off x="5365422" y="192648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4" name="Google Shape;704;p13"/>
          <p:cNvSpPr txBox="1">
            <a:spLocks noGrp="1"/>
          </p:cNvSpPr>
          <p:nvPr>
            <p:ph type="subTitle" idx="9"/>
          </p:nvPr>
        </p:nvSpPr>
        <p:spPr>
          <a:xfrm flipH="1">
            <a:off x="4745922" y="2600306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5" name="Google Shape;705;p13"/>
          <p:cNvSpPr txBox="1">
            <a:spLocks noGrp="1"/>
          </p:cNvSpPr>
          <p:nvPr>
            <p:ph type="subTitle" idx="13"/>
          </p:nvPr>
        </p:nvSpPr>
        <p:spPr>
          <a:xfrm flipH="1">
            <a:off x="5365422" y="2966011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3"/>
          <p:cNvSpPr txBox="1">
            <a:spLocks noGrp="1"/>
          </p:cNvSpPr>
          <p:nvPr>
            <p:ph type="subTitle" idx="14"/>
          </p:nvPr>
        </p:nvSpPr>
        <p:spPr>
          <a:xfrm flipH="1">
            <a:off x="4745922" y="363983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7" name="Google Shape;707;p13"/>
          <p:cNvSpPr txBox="1">
            <a:spLocks noGrp="1"/>
          </p:cNvSpPr>
          <p:nvPr>
            <p:ph type="subTitle" idx="15"/>
          </p:nvPr>
        </p:nvSpPr>
        <p:spPr>
          <a:xfrm flipH="1">
            <a:off x="5365422" y="400553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13"/>
          <p:cNvSpPr txBox="1">
            <a:spLocks noGrp="1"/>
          </p:cNvSpPr>
          <p:nvPr>
            <p:ph type="title" idx="16" hasCustomPrompt="1"/>
          </p:nvPr>
        </p:nvSpPr>
        <p:spPr>
          <a:xfrm>
            <a:off x="682899" y="1816685"/>
            <a:ext cx="8493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9" name="Google Shape;709;p13"/>
          <p:cNvSpPr txBox="1">
            <a:spLocks noGrp="1"/>
          </p:cNvSpPr>
          <p:nvPr>
            <p:ph type="title" idx="17" hasCustomPrompt="1"/>
          </p:nvPr>
        </p:nvSpPr>
        <p:spPr>
          <a:xfrm>
            <a:off x="682882" y="2860363"/>
            <a:ext cx="8493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0" name="Google Shape;710;p13"/>
          <p:cNvSpPr txBox="1">
            <a:spLocks noGrp="1"/>
          </p:cNvSpPr>
          <p:nvPr>
            <p:ph type="title" idx="18" hasCustomPrompt="1"/>
          </p:nvPr>
        </p:nvSpPr>
        <p:spPr>
          <a:xfrm>
            <a:off x="682882" y="3893540"/>
            <a:ext cx="8493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1" name="Google Shape;711;p13"/>
          <p:cNvSpPr txBox="1">
            <a:spLocks noGrp="1"/>
          </p:cNvSpPr>
          <p:nvPr>
            <p:ph type="title" idx="19" hasCustomPrompt="1"/>
          </p:nvPr>
        </p:nvSpPr>
        <p:spPr>
          <a:xfrm>
            <a:off x="7611818" y="1816685"/>
            <a:ext cx="8493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2" name="Google Shape;712;p13"/>
          <p:cNvSpPr txBox="1">
            <a:spLocks noGrp="1"/>
          </p:cNvSpPr>
          <p:nvPr>
            <p:ph type="title" idx="20" hasCustomPrompt="1"/>
          </p:nvPr>
        </p:nvSpPr>
        <p:spPr>
          <a:xfrm>
            <a:off x="7611818" y="2860363"/>
            <a:ext cx="8493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3" name="Google Shape;713;p13"/>
          <p:cNvSpPr txBox="1">
            <a:spLocks noGrp="1"/>
          </p:cNvSpPr>
          <p:nvPr>
            <p:ph type="title" idx="21" hasCustomPrompt="1"/>
          </p:nvPr>
        </p:nvSpPr>
        <p:spPr>
          <a:xfrm>
            <a:off x="7611818" y="3893540"/>
            <a:ext cx="8493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3_4"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3" name="Google Shape;1613;p24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614" name="Google Shape;1614;p24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615" name="Google Shape;161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16" name="Google Shape;161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7" name="Google Shape;161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8" name="Google Shape;161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9" name="Google Shape;161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0" name="Google Shape;162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1" name="Google Shape;162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2" name="Google Shape;162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3" name="Google Shape;162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4" name="Google Shape;162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25" name="Google Shape;162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26" name="Google Shape;162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7" name="Google Shape;162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8" name="Google Shape;162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9" name="Google Shape;162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0" name="Google Shape;163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1" name="Google Shape;163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2" name="Google Shape;163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3" name="Google Shape;163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34" name="Google Shape;1634;p24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635" name="Google Shape;163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36" name="Google Shape;163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7" name="Google Shape;163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8" name="Google Shape;163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9" name="Google Shape;163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0" name="Google Shape;164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1" name="Google Shape;164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2" name="Google Shape;164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3" name="Google Shape;164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4" name="Google Shape;164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45" name="Google Shape;164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46" name="Google Shape;164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7" name="Google Shape;164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8" name="Google Shape;164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9" name="Google Shape;164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0" name="Google Shape;165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1" name="Google Shape;165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2" name="Google Shape;165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3" name="Google Shape;165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54" name="Google Shape;1654;p24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655" name="Google Shape;165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56" name="Google Shape;165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7" name="Google Shape;165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8" name="Google Shape;165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9" name="Google Shape;165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0" name="Google Shape;166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1" name="Google Shape;166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2" name="Google Shape;166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3" name="Google Shape;166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4" name="Google Shape;166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65" name="Google Shape;166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66" name="Google Shape;166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7" name="Google Shape;166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8" name="Google Shape;166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9" name="Google Shape;166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0" name="Google Shape;167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1" name="Google Shape;167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2" name="Google Shape;167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3" name="Google Shape;167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74" name="Google Shape;1674;p24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675" name="Google Shape;167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76" name="Google Shape;167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7" name="Google Shape;167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8" name="Google Shape;167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9" name="Google Shape;167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0" name="Google Shape;168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1" name="Google Shape;168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2" name="Google Shape;168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3" name="Google Shape;168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4" name="Google Shape;168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85" name="Google Shape;168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86" name="Google Shape;168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7" name="Google Shape;168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8" name="Google Shape;168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9" name="Google Shape;168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0" name="Google Shape;169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1" name="Google Shape;169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2" name="Google Shape;169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3" name="Google Shape;169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694" name="Google Shape;1694;p24"/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1695" name="Google Shape;1695;p24"/>
          <p:cNvSpPr/>
          <p:nvPr/>
        </p:nvSpPr>
        <p:spPr>
          <a:xfrm>
            <a:off x="540400" y="1458450"/>
            <a:ext cx="8064000" cy="29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p24"/>
          <p:cNvSpPr txBox="1">
            <a:spLocks noGrp="1"/>
          </p:cNvSpPr>
          <p:nvPr>
            <p:ph type="body" idx="1"/>
          </p:nvPr>
        </p:nvSpPr>
        <p:spPr>
          <a:xfrm>
            <a:off x="815200" y="1454125"/>
            <a:ext cx="7513500" cy="29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b="1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1" name="Google Shape;1871;p27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872" name="Google Shape;1872;p27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873" name="Google Shape;187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74" name="Google Shape;187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5" name="Google Shape;187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6" name="Google Shape;187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7" name="Google Shape;187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8" name="Google Shape;187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9" name="Google Shape;187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0" name="Google Shape;188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1" name="Google Shape;188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2" name="Google Shape;188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83" name="Google Shape;188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884" name="Google Shape;188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5" name="Google Shape;188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6" name="Google Shape;188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7" name="Google Shape;188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8" name="Google Shape;188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9" name="Google Shape;188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0" name="Google Shape;189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1" name="Google Shape;189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892" name="Google Shape;1892;p27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893" name="Google Shape;189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94" name="Google Shape;189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5" name="Google Shape;189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6" name="Google Shape;189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7" name="Google Shape;189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8" name="Google Shape;189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9" name="Google Shape;189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0" name="Google Shape;190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1" name="Google Shape;190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2" name="Google Shape;190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03" name="Google Shape;190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04" name="Google Shape;190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5" name="Google Shape;190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6" name="Google Shape;190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7" name="Google Shape;190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8" name="Google Shape;190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9" name="Google Shape;190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0" name="Google Shape;191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1" name="Google Shape;191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12" name="Google Shape;1912;p27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913" name="Google Shape;191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14" name="Google Shape;191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5" name="Google Shape;191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6" name="Google Shape;191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7" name="Google Shape;191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8" name="Google Shape;191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9" name="Google Shape;191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0" name="Google Shape;192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1" name="Google Shape;192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2" name="Google Shape;192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23" name="Google Shape;192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24" name="Google Shape;192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5" name="Google Shape;192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6" name="Google Shape;192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7" name="Google Shape;192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8" name="Google Shape;192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9" name="Google Shape;192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0" name="Google Shape;193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1" name="Google Shape;193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32" name="Google Shape;1932;p27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933" name="Google Shape;193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34" name="Google Shape;193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5" name="Google Shape;193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6" name="Google Shape;193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7" name="Google Shape;193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8" name="Google Shape;193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9" name="Google Shape;193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0" name="Google Shape;194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1" name="Google Shape;194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2" name="Google Shape;194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43" name="Google Shape;194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44" name="Google Shape;194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5" name="Google Shape;194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6" name="Google Shape;194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7" name="Google Shape;194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8" name="Google Shape;194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9" name="Google Shape;194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0" name="Google Shape;195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1" name="Google Shape;195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952" name="Google Shape;1952;p27"/>
          <p:cNvSpPr txBox="1">
            <a:spLocks noGrp="1"/>
          </p:cNvSpPr>
          <p:nvPr>
            <p:ph type="title"/>
          </p:nvPr>
        </p:nvSpPr>
        <p:spPr>
          <a:xfrm>
            <a:off x="2639875" y="534501"/>
            <a:ext cx="38667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endParaRPr/>
          </a:p>
        </p:txBody>
      </p:sp>
      <p:sp>
        <p:nvSpPr>
          <p:cNvPr id="1953" name="Google Shape;1953;p27"/>
          <p:cNvSpPr txBox="1">
            <a:spLocks noGrp="1"/>
          </p:cNvSpPr>
          <p:nvPr>
            <p:ph type="subTitle" idx="1"/>
          </p:nvPr>
        </p:nvSpPr>
        <p:spPr>
          <a:xfrm>
            <a:off x="2983525" y="1382665"/>
            <a:ext cx="3179400" cy="1175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4" name="Google Shape;1954;p27"/>
          <p:cNvSpPr txBox="1"/>
          <p:nvPr/>
        </p:nvSpPr>
        <p:spPr>
          <a:xfrm>
            <a:off x="1692625" y="4062750"/>
            <a:ext cx="5758800" cy="36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CREDITS: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,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955" name="Google Shape;1955;p27"/>
          <p:cNvSpPr/>
          <p:nvPr/>
        </p:nvSpPr>
        <p:spPr>
          <a:xfrm flipH="1">
            <a:off x="7822627" y="4596843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6" name="Google Shape;1956;p27"/>
          <p:cNvSpPr/>
          <p:nvPr/>
        </p:nvSpPr>
        <p:spPr>
          <a:xfrm flipH="1">
            <a:off x="334652" y="4588866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spTree>
      <p:nvGrpSpPr>
        <p:cNvPr id="1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8" name="Google Shape;1958;p28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959" name="Google Shape;1959;p28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960" name="Google Shape;196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61" name="Google Shape;196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2" name="Google Shape;196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3" name="Google Shape;196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4" name="Google Shape;196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5" name="Google Shape;196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6" name="Google Shape;196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7" name="Google Shape;196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8" name="Google Shape;196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9" name="Google Shape;196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70" name="Google Shape;197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71" name="Google Shape;197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2" name="Google Shape;197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3" name="Google Shape;197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4" name="Google Shape;197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5" name="Google Shape;197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6" name="Google Shape;197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7" name="Google Shape;197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8" name="Google Shape;197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79" name="Google Shape;1979;p28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980" name="Google Shape;198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81" name="Google Shape;198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2" name="Google Shape;198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3" name="Google Shape;198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4" name="Google Shape;198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5" name="Google Shape;198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6" name="Google Shape;198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7" name="Google Shape;198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8" name="Google Shape;198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9" name="Google Shape;198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90" name="Google Shape;199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91" name="Google Shape;199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2" name="Google Shape;199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3" name="Google Shape;199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4" name="Google Shape;199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5" name="Google Shape;199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6" name="Google Shape;199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7" name="Google Shape;199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8" name="Google Shape;199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99" name="Google Shape;1999;p28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2000" name="Google Shape;200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001" name="Google Shape;200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2" name="Google Shape;200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3" name="Google Shape;200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4" name="Google Shape;200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5" name="Google Shape;200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6" name="Google Shape;200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7" name="Google Shape;200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8" name="Google Shape;200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9" name="Google Shape;200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010" name="Google Shape;201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011" name="Google Shape;201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2" name="Google Shape;201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3" name="Google Shape;201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4" name="Google Shape;201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5" name="Google Shape;201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6" name="Google Shape;201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7" name="Google Shape;201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8" name="Google Shape;201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019" name="Google Shape;2019;p28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2020" name="Google Shape;202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021" name="Google Shape;202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2" name="Google Shape;202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3" name="Google Shape;202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4" name="Google Shape;202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5" name="Google Shape;202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6" name="Google Shape;202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7" name="Google Shape;202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8" name="Google Shape;202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9" name="Google Shape;202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030" name="Google Shape;203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031" name="Google Shape;203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2" name="Google Shape;203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3" name="Google Shape;203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4" name="Google Shape;203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5" name="Google Shape;203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6" name="Google Shape;203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7" name="Google Shape;203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8" name="Google Shape;203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grpSp>
        <p:nvGrpSpPr>
          <p:cNvPr id="2039" name="Google Shape;2039;p28"/>
          <p:cNvGrpSpPr/>
          <p:nvPr/>
        </p:nvGrpSpPr>
        <p:grpSpPr>
          <a:xfrm flipH="1">
            <a:off x="146539" y="131297"/>
            <a:ext cx="734748" cy="952069"/>
            <a:chOff x="7465916" y="720492"/>
            <a:chExt cx="1139144" cy="1477450"/>
          </a:xfrm>
        </p:grpSpPr>
        <p:sp>
          <p:nvSpPr>
            <p:cNvPr id="2040" name="Google Shape;2040;p28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8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8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8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8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8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6" name="Google Shape;2046;p28"/>
          <p:cNvSpPr/>
          <p:nvPr/>
        </p:nvSpPr>
        <p:spPr>
          <a:xfrm>
            <a:off x="8401572" y="4586124"/>
            <a:ext cx="431700" cy="4203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7" name="Google Shape;2047;p28"/>
          <p:cNvSpPr/>
          <p:nvPr/>
        </p:nvSpPr>
        <p:spPr>
          <a:xfrm>
            <a:off x="8768224" y="4322425"/>
            <a:ext cx="209700" cy="204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bg>
      <p:bgPr>
        <a:solidFill>
          <a:schemeClr val="dk1"/>
        </a:solidFill>
        <a:effectLst/>
      </p:bgPr>
    </p:bg>
    <p:spTree>
      <p:nvGrpSpPr>
        <p:cNvPr id="1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9" name="Google Shape;2049;p29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2050" name="Google Shape;2050;p29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2051" name="Google Shape;2051;p29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2" name="Google Shape;2052;p29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3" name="Google Shape;2053;p29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4" name="Google Shape;2054;p29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5" name="Google Shape;2055;p29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56" name="Google Shape;2056;p29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2057" name="Google Shape;2057;p29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8" name="Google Shape;2058;p29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9" name="Google Shape;2059;p29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0" name="Google Shape;2060;p29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061" name="Google Shape;2061;p29"/>
          <p:cNvGrpSpPr/>
          <p:nvPr/>
        </p:nvGrpSpPr>
        <p:grpSpPr>
          <a:xfrm rot="-5400000" flipH="1">
            <a:off x="7774437" y="2192363"/>
            <a:ext cx="1764041" cy="758764"/>
            <a:chOff x="6659230" y="279450"/>
            <a:chExt cx="2217246" cy="953700"/>
          </a:xfrm>
        </p:grpSpPr>
        <p:sp>
          <p:nvSpPr>
            <p:cNvPr id="2062" name="Google Shape;2062;p29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9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9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9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9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7" name="Google Shape;2067;p29"/>
          <p:cNvSpPr/>
          <p:nvPr/>
        </p:nvSpPr>
        <p:spPr>
          <a:xfrm flipH="1">
            <a:off x="259229" y="1477639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8" name="Google Shape;2068;p29"/>
          <p:cNvSpPr/>
          <p:nvPr/>
        </p:nvSpPr>
        <p:spPr>
          <a:xfrm flipH="1">
            <a:off x="6813956" y="176164"/>
            <a:ext cx="246900" cy="2403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p9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484" name="Google Shape;484;p9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485" name="Google Shape;48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486" name="Google Shape;48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7" name="Google Shape;48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8" name="Google Shape;48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9" name="Google Shape;48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0" name="Google Shape;49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1" name="Google Shape;49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2" name="Google Shape;49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3" name="Google Shape;49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4" name="Google Shape;49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95" name="Google Shape;49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96" name="Google Shape;49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7" name="Google Shape;49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8" name="Google Shape;49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9" name="Google Shape;49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0" name="Google Shape;50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1" name="Google Shape;50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2" name="Google Shape;50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3" name="Google Shape;50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04" name="Google Shape;504;p9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505" name="Google Shape;50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06" name="Google Shape;50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7" name="Google Shape;50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8" name="Google Shape;50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9" name="Google Shape;50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0" name="Google Shape;51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1" name="Google Shape;51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2" name="Google Shape;51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3" name="Google Shape;51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4" name="Google Shape;51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15" name="Google Shape;51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16" name="Google Shape;51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7" name="Google Shape;51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9" name="Google Shape;51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0" name="Google Shape;52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1" name="Google Shape;52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3" name="Google Shape;52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24" name="Google Shape;524;p9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25" name="Google Shape;52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6" name="Google Shape;52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7" name="Google Shape;52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8" name="Google Shape;52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9" name="Google Shape;52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0" name="Google Shape;53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1" name="Google Shape;53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2" name="Google Shape;53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3" name="Google Shape;53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4" name="Google Shape;53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35" name="Google Shape;53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36" name="Google Shape;53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7" name="Google Shape;53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8" name="Google Shape;53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9" name="Google Shape;53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0" name="Google Shape;54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1" name="Google Shape;54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3" name="Google Shape;54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44" name="Google Shape;544;p9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45" name="Google Shape;54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46" name="Google Shape;54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7" name="Google Shape;54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8" name="Google Shape;54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9" name="Google Shape;54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0" name="Google Shape;55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1" name="Google Shape;55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2" name="Google Shape;55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3" name="Google Shape;55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4" name="Google Shape;55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55" name="Google Shape;55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56" name="Google Shape;55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7" name="Google Shape;55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2" name="Google Shape;56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3" name="Google Shape;56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64" name="Google Shape;564;p9"/>
          <p:cNvSpPr/>
          <p:nvPr/>
        </p:nvSpPr>
        <p:spPr>
          <a:xfrm>
            <a:off x="1114800" y="1086000"/>
            <a:ext cx="6914400" cy="2971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/>
          </p:nvPr>
        </p:nvSpPr>
        <p:spPr>
          <a:xfrm>
            <a:off x="2098025" y="1609100"/>
            <a:ext cx="49476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66" name="Google Shape;566;p9"/>
          <p:cNvSpPr txBox="1">
            <a:spLocks noGrp="1"/>
          </p:cNvSpPr>
          <p:nvPr>
            <p:ph type="subTitle" idx="1"/>
          </p:nvPr>
        </p:nvSpPr>
        <p:spPr>
          <a:xfrm>
            <a:off x="2098025" y="2389294"/>
            <a:ext cx="4947600" cy="11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567" name="Google Shape;567;p9"/>
          <p:cNvGrpSpPr/>
          <p:nvPr/>
        </p:nvGrpSpPr>
        <p:grpSpPr>
          <a:xfrm>
            <a:off x="8031636" y="337016"/>
            <a:ext cx="820754" cy="1064503"/>
            <a:chOff x="7465916" y="720492"/>
            <a:chExt cx="1139144" cy="1477450"/>
          </a:xfrm>
        </p:grpSpPr>
        <p:sp>
          <p:nvSpPr>
            <p:cNvPr id="568" name="Google Shape;568;p9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9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9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4" name="Google Shape;574;p9"/>
          <p:cNvSpPr/>
          <p:nvPr/>
        </p:nvSpPr>
        <p:spPr>
          <a:xfrm flipH="1">
            <a:off x="7822627" y="4596843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457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700" y="339325"/>
            <a:ext cx="8083800" cy="75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37508"/>
            <a:ext cx="7717500" cy="3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70" r:id="rId4"/>
    <p:sldLayoutId id="2147483673" r:id="rId5"/>
    <p:sldLayoutId id="2147483674" r:id="rId6"/>
    <p:sldLayoutId id="2147483675" r:id="rId7"/>
    <p:sldLayoutId id="214748367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33"/>
          <p:cNvSpPr/>
          <p:nvPr/>
        </p:nvSpPr>
        <p:spPr>
          <a:xfrm>
            <a:off x="1118025" y="1086025"/>
            <a:ext cx="6908700" cy="222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80" name="Google Shape;2080;p33"/>
          <p:cNvSpPr txBox="1">
            <a:spLocks noGrp="1"/>
          </p:cNvSpPr>
          <p:nvPr>
            <p:ph type="subTitle" idx="1"/>
          </p:nvPr>
        </p:nvSpPr>
        <p:spPr>
          <a:xfrm>
            <a:off x="1976876" y="3690492"/>
            <a:ext cx="5190098" cy="11228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ro-RO" sz="1200" noProof="0" dirty="0"/>
              <a:t>2025 – 2026 (Sem. I)</a:t>
            </a:r>
            <a:br>
              <a:rPr lang="ro-RO" sz="1200" noProof="0" dirty="0"/>
            </a:br>
            <a:r>
              <a:rPr lang="ro-RO" sz="1200" noProof="0" dirty="0"/>
              <a:t>Drd. Ștefan Iordache</a:t>
            </a:r>
            <a:br>
              <a:rPr lang="ro-RO" sz="1200" noProof="0" dirty="0"/>
            </a:br>
            <a:r>
              <a:rPr lang="ro-RO" sz="1200" noProof="0" dirty="0"/>
              <a:t>Conf. </a:t>
            </a:r>
            <a:r>
              <a:rPr lang="ro-RO" sz="1200" dirty="0"/>
              <a:t>Dr. Ciprian Păduraru</a:t>
            </a:r>
            <a:br>
              <a:rPr lang="ro-RO" sz="1200" noProof="0" dirty="0"/>
            </a:br>
            <a:r>
              <a:rPr lang="ro-RO" sz="1200" noProof="0" dirty="0"/>
              <a:t>Facultatea de Matematică și Informatică</a:t>
            </a:r>
          </a:p>
          <a:p>
            <a:pPr marL="0" indent="0"/>
            <a:r>
              <a:rPr lang="ro-RO" sz="1200" noProof="0" dirty="0"/>
              <a:t>Universitatea din București</a:t>
            </a:r>
          </a:p>
        </p:txBody>
      </p:sp>
      <p:sp>
        <p:nvSpPr>
          <p:cNvPr id="2081" name="Google Shape;2081;p33"/>
          <p:cNvSpPr txBox="1">
            <a:spLocks noGrp="1"/>
          </p:cNvSpPr>
          <p:nvPr>
            <p:ph type="ctrTitle"/>
          </p:nvPr>
        </p:nvSpPr>
        <p:spPr>
          <a:xfrm>
            <a:off x="1340625" y="1354950"/>
            <a:ext cx="6462600" cy="8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noProof="0" dirty="0"/>
              <a:t>Introducere în </a:t>
            </a:r>
            <a:r>
              <a:rPr lang="ro-RO" sz="3200" noProof="0" dirty="0" err="1"/>
              <a:t>Reinforcement</a:t>
            </a:r>
            <a:r>
              <a:rPr lang="ro-RO" sz="3200" noProof="0" dirty="0"/>
              <a:t> </a:t>
            </a:r>
            <a:r>
              <a:rPr lang="ro-RO" sz="3200" noProof="0" dirty="0" err="1"/>
              <a:t>Learning</a:t>
            </a:r>
            <a:endParaRPr lang="ro-RO" sz="3200" noProof="0" dirty="0"/>
          </a:p>
        </p:txBody>
      </p:sp>
      <p:sp>
        <p:nvSpPr>
          <p:cNvPr id="2082" name="Google Shape;2082;p33"/>
          <p:cNvSpPr/>
          <p:nvPr/>
        </p:nvSpPr>
        <p:spPr>
          <a:xfrm>
            <a:off x="2649300" y="2361196"/>
            <a:ext cx="3872285" cy="6893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o-RO" noProof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Merriweather"/>
              </a:rPr>
              <a:t>Cursul #2</a:t>
            </a:r>
            <a:endParaRPr lang="ro-RO" b="0" i="0" noProof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Merriweather"/>
            </a:endParaRPr>
          </a:p>
        </p:txBody>
      </p:sp>
      <p:sp>
        <p:nvSpPr>
          <p:cNvPr id="2083" name="Google Shape;2083;p33"/>
          <p:cNvSpPr/>
          <p:nvPr/>
        </p:nvSpPr>
        <p:spPr>
          <a:xfrm>
            <a:off x="3261615" y="2357391"/>
            <a:ext cx="2647657" cy="6893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lang="ro-RO" b="0" i="0" noProof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Merriweather"/>
            </a:endParaRPr>
          </a:p>
        </p:txBody>
      </p:sp>
      <p:grpSp>
        <p:nvGrpSpPr>
          <p:cNvPr id="2084" name="Google Shape;2084;p33"/>
          <p:cNvGrpSpPr/>
          <p:nvPr/>
        </p:nvGrpSpPr>
        <p:grpSpPr>
          <a:xfrm>
            <a:off x="7803335" y="4060517"/>
            <a:ext cx="798976" cy="380999"/>
            <a:chOff x="7740700" y="4100311"/>
            <a:chExt cx="786936" cy="604089"/>
          </a:xfrm>
        </p:grpSpPr>
        <p:grpSp>
          <p:nvGrpSpPr>
            <p:cNvPr id="2085" name="Google Shape;2085;p33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2086" name="Google Shape;2086;p33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o-RO" noProof="0" dirty="0"/>
              </a:p>
            </p:txBody>
          </p:sp>
          <p:sp>
            <p:nvSpPr>
              <p:cNvPr id="2087" name="Google Shape;2087;p33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o-RO" noProof="0" dirty="0"/>
              </a:p>
            </p:txBody>
          </p:sp>
        </p:grpSp>
        <p:sp>
          <p:nvSpPr>
            <p:cNvPr id="2088" name="Google Shape;2088;p33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089" name="Google Shape;2089;p33"/>
          <p:cNvSpPr/>
          <p:nvPr/>
        </p:nvSpPr>
        <p:spPr>
          <a:xfrm>
            <a:off x="2102264" y="175464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90" name="Google Shape;2090;p33"/>
          <p:cNvSpPr/>
          <p:nvPr/>
        </p:nvSpPr>
        <p:spPr>
          <a:xfrm>
            <a:off x="948396" y="1289701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91" name="Google Shape;2091;p33"/>
          <p:cNvSpPr/>
          <p:nvPr/>
        </p:nvSpPr>
        <p:spPr>
          <a:xfrm>
            <a:off x="7248344" y="3112759"/>
            <a:ext cx="427200" cy="4164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2092" name="Google Shape;2092;p33"/>
          <p:cNvGrpSpPr/>
          <p:nvPr/>
        </p:nvGrpSpPr>
        <p:grpSpPr>
          <a:xfrm>
            <a:off x="7459073" y="337966"/>
            <a:ext cx="1143140" cy="598828"/>
            <a:chOff x="7055900" y="279450"/>
            <a:chExt cx="1820576" cy="953700"/>
          </a:xfrm>
        </p:grpSpPr>
        <p:sp>
          <p:nvSpPr>
            <p:cNvPr id="2093" name="Google Shape;2093;p33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4" name="Google Shape;2094;p33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5" name="Google Shape;2095;p33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6" name="Google Shape;2096;p33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7" name="Google Shape;2097;p33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098" name="Google Shape;2098;p33"/>
          <p:cNvGrpSpPr/>
          <p:nvPr/>
        </p:nvGrpSpPr>
        <p:grpSpPr>
          <a:xfrm>
            <a:off x="539126" y="3307343"/>
            <a:ext cx="584139" cy="656583"/>
            <a:chOff x="848509" y="2822478"/>
            <a:chExt cx="624748" cy="702228"/>
          </a:xfrm>
        </p:grpSpPr>
        <p:sp>
          <p:nvSpPr>
            <p:cNvPr id="2099" name="Google Shape;2099;p33"/>
            <p:cNvSpPr/>
            <p:nvPr/>
          </p:nvSpPr>
          <p:spPr>
            <a:xfrm rot="-5400000">
              <a:off x="950207" y="3001656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0" name="Google Shape;2100;p33"/>
            <p:cNvSpPr/>
            <p:nvPr/>
          </p:nvSpPr>
          <p:spPr>
            <a:xfrm rot="-5400000">
              <a:off x="904258" y="2953980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1" name="Google Shape;2101;p33"/>
            <p:cNvSpPr/>
            <p:nvPr/>
          </p:nvSpPr>
          <p:spPr>
            <a:xfrm rot="-5400000">
              <a:off x="858308" y="2906304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2" name="Google Shape;2102;p33"/>
            <p:cNvSpPr/>
            <p:nvPr/>
          </p:nvSpPr>
          <p:spPr>
            <a:xfrm rot="-5400000">
              <a:off x="812359" y="2858628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" name="Google Shape;2150;p36"/>
          <p:cNvGrpSpPr/>
          <p:nvPr/>
        </p:nvGrpSpPr>
        <p:grpSpPr>
          <a:xfrm>
            <a:off x="1016749" y="1718251"/>
            <a:ext cx="731519" cy="822961"/>
            <a:chOff x="4314469" y="1612892"/>
            <a:chExt cx="486900" cy="607800"/>
          </a:xfrm>
        </p:grpSpPr>
        <p:sp>
          <p:nvSpPr>
            <p:cNvPr id="2151" name="Google Shape;2151;p36"/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6"/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2" name="Google Shape;2162;p36"/>
          <p:cNvGrpSpPr/>
          <p:nvPr/>
        </p:nvGrpSpPr>
        <p:grpSpPr>
          <a:xfrm>
            <a:off x="5367872" y="2447309"/>
            <a:ext cx="731519" cy="822961"/>
            <a:chOff x="4314469" y="1612892"/>
            <a:chExt cx="486900" cy="607800"/>
          </a:xfrm>
        </p:grpSpPr>
        <p:sp>
          <p:nvSpPr>
            <p:cNvPr id="2163" name="Google Shape;2163;p36"/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6"/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5" name="Google Shape;2165;p36"/>
          <p:cNvSpPr txBox="1">
            <a:spLocks noGrp="1"/>
          </p:cNvSpPr>
          <p:nvPr>
            <p:ph type="title"/>
          </p:nvPr>
        </p:nvSpPr>
        <p:spPr>
          <a:xfrm>
            <a:off x="540475" y="342800"/>
            <a:ext cx="8062200" cy="7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Cuprins</a:t>
            </a:r>
            <a:endParaRPr/>
          </a:p>
        </p:txBody>
      </p:sp>
      <p:sp>
        <p:nvSpPr>
          <p:cNvPr id="2166" name="Google Shape;2166;p36"/>
          <p:cNvSpPr txBox="1">
            <a:spLocks noGrp="1"/>
          </p:cNvSpPr>
          <p:nvPr>
            <p:ph type="subTitle" idx="1"/>
          </p:nvPr>
        </p:nvSpPr>
        <p:spPr>
          <a:xfrm>
            <a:off x="1835527" y="1839533"/>
            <a:ext cx="2939508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err="1"/>
              <a:t>Concepte</a:t>
            </a:r>
            <a:r>
              <a:rPr lang="en" dirty="0"/>
              <a:t> generale</a:t>
            </a:r>
            <a:endParaRPr dirty="0"/>
          </a:p>
        </p:txBody>
      </p:sp>
      <p:sp>
        <p:nvSpPr>
          <p:cNvPr id="2167" name="Google Shape;2167;p36"/>
          <p:cNvSpPr txBox="1">
            <a:spLocks noGrp="1"/>
          </p:cNvSpPr>
          <p:nvPr>
            <p:ph type="subTitle" idx="2"/>
          </p:nvPr>
        </p:nvSpPr>
        <p:spPr>
          <a:xfrm>
            <a:off x="1845904" y="2175513"/>
            <a:ext cx="22152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err="1"/>
              <a:t>Primii</a:t>
            </a:r>
            <a:r>
              <a:rPr lang="en" dirty="0"/>
              <a:t> </a:t>
            </a:r>
            <a:r>
              <a:rPr lang="en" dirty="0" err="1"/>
              <a:t>pași</a:t>
            </a:r>
            <a:r>
              <a:rPr lang="en" dirty="0"/>
              <a:t> </a:t>
            </a:r>
            <a:r>
              <a:rPr lang="en" dirty="0" err="1"/>
              <a:t>în</a:t>
            </a:r>
            <a:r>
              <a:rPr lang="en" dirty="0"/>
              <a:t> RL</a:t>
            </a:r>
            <a:endParaRPr dirty="0"/>
          </a:p>
        </p:txBody>
      </p:sp>
      <p:sp>
        <p:nvSpPr>
          <p:cNvPr id="2168" name="Google Shape;2168;p36"/>
          <p:cNvSpPr txBox="1">
            <a:spLocks noGrp="1"/>
          </p:cNvSpPr>
          <p:nvPr>
            <p:ph type="subTitle" idx="3"/>
          </p:nvPr>
        </p:nvSpPr>
        <p:spPr>
          <a:xfrm>
            <a:off x="6187075" y="2477845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RO"/>
              <a:t>Procese Markov</a:t>
            </a:r>
            <a:endParaRPr dirty="0"/>
          </a:p>
        </p:txBody>
      </p:sp>
      <p:sp>
        <p:nvSpPr>
          <p:cNvPr id="2169" name="Google Shape;2169;p36"/>
          <p:cNvSpPr txBox="1">
            <a:spLocks noGrp="1"/>
          </p:cNvSpPr>
          <p:nvPr>
            <p:ph type="subTitle" idx="4"/>
          </p:nvPr>
        </p:nvSpPr>
        <p:spPr>
          <a:xfrm>
            <a:off x="6187075" y="2766343"/>
            <a:ext cx="2522884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err="1"/>
              <a:t>Baza</a:t>
            </a:r>
            <a:r>
              <a:rPr lang="en"/>
              <a:t> </a:t>
            </a:r>
            <a:r>
              <a:rPr lang="en" err="1"/>
              <a:t>algoritmilor</a:t>
            </a:r>
            <a:r>
              <a:rPr lang="en"/>
              <a:t> </a:t>
            </a:r>
            <a:r>
              <a:rPr lang="en" err="1"/>
              <a:t>noștri</a:t>
            </a:r>
            <a:r>
              <a:rPr lang="en"/>
              <a:t>!</a:t>
            </a:r>
            <a:endParaRPr/>
          </a:p>
        </p:txBody>
      </p:sp>
      <p:sp>
        <p:nvSpPr>
          <p:cNvPr id="2178" name="Google Shape;2178;p36"/>
          <p:cNvSpPr txBox="1">
            <a:spLocks noGrp="1"/>
          </p:cNvSpPr>
          <p:nvPr>
            <p:ph type="title" idx="16"/>
          </p:nvPr>
        </p:nvSpPr>
        <p:spPr>
          <a:xfrm>
            <a:off x="957921" y="1926012"/>
            <a:ext cx="849300" cy="4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79" name="Google Shape;2179;p36"/>
          <p:cNvSpPr txBox="1">
            <a:spLocks noGrp="1"/>
          </p:cNvSpPr>
          <p:nvPr>
            <p:ph type="title" idx="17"/>
          </p:nvPr>
        </p:nvSpPr>
        <p:spPr>
          <a:xfrm>
            <a:off x="5309027" y="2660695"/>
            <a:ext cx="849300" cy="48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84" name="Google Shape;2184;p36"/>
          <p:cNvSpPr/>
          <p:nvPr/>
        </p:nvSpPr>
        <p:spPr>
          <a:xfrm>
            <a:off x="7843664" y="1011864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5" name="Google Shape;2185;p36"/>
          <p:cNvSpPr/>
          <p:nvPr/>
        </p:nvSpPr>
        <p:spPr>
          <a:xfrm>
            <a:off x="957921" y="174426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2162;p36">
            <a:extLst>
              <a:ext uri="{FF2B5EF4-FFF2-40B4-BE49-F238E27FC236}">
                <a16:creationId xmlns:a16="http://schemas.microsoft.com/office/drawing/2014/main" id="{742F3A07-EC67-E3D0-3CFB-04509C7E6B47}"/>
              </a:ext>
            </a:extLst>
          </p:cNvPr>
          <p:cNvGrpSpPr/>
          <p:nvPr/>
        </p:nvGrpSpPr>
        <p:grpSpPr>
          <a:xfrm>
            <a:off x="1807114" y="3600771"/>
            <a:ext cx="731519" cy="822961"/>
            <a:chOff x="4314469" y="1612892"/>
            <a:chExt cx="486900" cy="607800"/>
          </a:xfrm>
        </p:grpSpPr>
        <p:sp>
          <p:nvSpPr>
            <p:cNvPr id="3" name="Google Shape;2163;p36">
              <a:extLst>
                <a:ext uri="{FF2B5EF4-FFF2-40B4-BE49-F238E27FC236}">
                  <a16:creationId xmlns:a16="http://schemas.microsoft.com/office/drawing/2014/main" id="{C06CA814-B031-47DD-D2DD-2E1887EE2BAC}"/>
                </a:ext>
              </a:extLst>
            </p:cNvPr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164;p36">
              <a:extLst>
                <a:ext uri="{FF2B5EF4-FFF2-40B4-BE49-F238E27FC236}">
                  <a16:creationId xmlns:a16="http://schemas.microsoft.com/office/drawing/2014/main" id="{7FF97FA2-CF79-FF8F-4523-03711296D1A6}"/>
                </a:ext>
              </a:extLst>
            </p:cNvPr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2168;p36">
            <a:extLst>
              <a:ext uri="{FF2B5EF4-FFF2-40B4-BE49-F238E27FC236}">
                <a16:creationId xmlns:a16="http://schemas.microsoft.com/office/drawing/2014/main" id="{E7D6BF5F-6218-C992-7785-8BB82147B9EA}"/>
              </a:ext>
            </a:extLst>
          </p:cNvPr>
          <p:cNvSpPr txBox="1">
            <a:spLocks/>
          </p:cNvSpPr>
          <p:nvPr/>
        </p:nvSpPr>
        <p:spPr>
          <a:xfrm>
            <a:off x="2626317" y="3631307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GB" dirty="0" err="1"/>
              <a:t>Algoritmi</a:t>
            </a:r>
            <a:r>
              <a:rPr lang="en-GB" dirty="0"/>
              <a:t> RL</a:t>
            </a:r>
          </a:p>
        </p:txBody>
      </p:sp>
      <p:sp>
        <p:nvSpPr>
          <p:cNvPr id="6" name="Google Shape;2169;p36">
            <a:extLst>
              <a:ext uri="{FF2B5EF4-FFF2-40B4-BE49-F238E27FC236}">
                <a16:creationId xmlns:a16="http://schemas.microsoft.com/office/drawing/2014/main" id="{A51BF398-10A8-0EEA-3622-279A7F91D48F}"/>
              </a:ext>
            </a:extLst>
          </p:cNvPr>
          <p:cNvSpPr txBox="1">
            <a:spLocks/>
          </p:cNvSpPr>
          <p:nvPr/>
        </p:nvSpPr>
        <p:spPr>
          <a:xfrm>
            <a:off x="2626317" y="3919805"/>
            <a:ext cx="2522884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None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None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None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None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None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None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None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None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None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GB" err="1"/>
              <a:t>Începe</a:t>
            </a:r>
            <a:r>
              <a:rPr lang="en-GB"/>
              <a:t> </a:t>
            </a:r>
            <a:r>
              <a:rPr lang="en-GB" err="1"/>
              <a:t>distracția</a:t>
            </a:r>
            <a:r>
              <a:rPr lang="en-GB"/>
              <a:t>!</a:t>
            </a:r>
          </a:p>
        </p:txBody>
      </p:sp>
      <p:sp>
        <p:nvSpPr>
          <p:cNvPr id="7" name="Google Shape;2179;p36">
            <a:extLst>
              <a:ext uri="{FF2B5EF4-FFF2-40B4-BE49-F238E27FC236}">
                <a16:creationId xmlns:a16="http://schemas.microsoft.com/office/drawing/2014/main" id="{83F46012-5CB8-BD7E-38E2-6F3D178ABBFB}"/>
              </a:ext>
            </a:extLst>
          </p:cNvPr>
          <p:cNvSpPr txBox="1">
            <a:spLocks/>
          </p:cNvSpPr>
          <p:nvPr/>
        </p:nvSpPr>
        <p:spPr>
          <a:xfrm>
            <a:off x="1748269" y="3814157"/>
            <a:ext cx="849300" cy="4842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3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"/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err="1"/>
              <a:t>Concepte</a:t>
            </a:r>
            <a:r>
              <a:rPr lang="en" sz="4400"/>
              <a:t> generale</a:t>
            </a:r>
            <a:endParaRPr sz="4400"/>
          </a:p>
        </p:txBody>
      </p:sp>
      <p:sp>
        <p:nvSpPr>
          <p:cNvPr id="2192" name="Google Shape;2192;p37"/>
          <p:cNvSpPr txBox="1">
            <a:spLocks noGrp="1"/>
          </p:cNvSpPr>
          <p:nvPr>
            <p:ph type="subTitle" idx="1"/>
          </p:nvPr>
        </p:nvSpPr>
        <p:spPr>
          <a:xfrm>
            <a:off x="2242297" y="3984875"/>
            <a:ext cx="2298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err="1"/>
              <a:t>Primii</a:t>
            </a:r>
            <a:r>
              <a:rPr lang="en"/>
              <a:t> </a:t>
            </a:r>
            <a:r>
              <a:rPr lang="en" err="1"/>
              <a:t>pași</a:t>
            </a:r>
            <a:r>
              <a:rPr lang="en"/>
              <a:t> </a:t>
            </a:r>
            <a:r>
              <a:rPr lang="en" err="1"/>
              <a:t>în</a:t>
            </a:r>
            <a:r>
              <a:rPr lang="en"/>
              <a:t> RL</a:t>
            </a:r>
            <a:endParaRPr/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01</a:t>
            </a:r>
          </a:p>
        </p:txBody>
      </p:sp>
      <p:sp>
        <p:nvSpPr>
          <p:cNvPr id="2194" name="Google Shape;2194;p37"/>
          <p:cNvSpPr/>
          <p:nvPr/>
        </p:nvSpPr>
        <p:spPr>
          <a:xfrm>
            <a:off x="22316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01</a:t>
            </a: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578BC-4273-EA79-AC7F-B87318F16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Diagrama generică - RL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9B77E8-FC8B-254E-00D5-400308163CA8}"/>
              </a:ext>
            </a:extLst>
          </p:cNvPr>
          <p:cNvSpPr txBox="1"/>
          <p:nvPr/>
        </p:nvSpPr>
        <p:spPr>
          <a:xfrm>
            <a:off x="5860112" y="1737613"/>
            <a:ext cx="236948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RO" b="1"/>
              <a:t>Scopul</a:t>
            </a:r>
            <a:r>
              <a:rPr lang="en-RO"/>
              <a:t>: </a:t>
            </a:r>
            <a:r>
              <a:rPr lang="en-US" dirty="0" err="1"/>
              <a:t>dezvoltarea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agent </a:t>
            </a:r>
            <a:r>
              <a:rPr lang="en-US" dirty="0" err="1"/>
              <a:t>capabil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aleagă</a:t>
            </a:r>
            <a:r>
              <a:rPr lang="en-US" dirty="0"/>
              <a:t> “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bune</a:t>
            </a:r>
            <a:r>
              <a:rPr lang="en-US" dirty="0"/>
              <a:t> </a:t>
            </a:r>
            <a:r>
              <a:rPr lang="en-US" dirty="0" err="1"/>
              <a:t>acțiuni</a:t>
            </a:r>
            <a:r>
              <a:rPr lang="en-US" dirty="0"/>
              <a:t>” – </a:t>
            </a:r>
            <a:r>
              <a:rPr lang="en-US" dirty="0" err="1"/>
              <a:t>strategie</a:t>
            </a:r>
            <a:r>
              <a:rPr lang="en-US" dirty="0"/>
              <a:t> </a:t>
            </a:r>
            <a:r>
              <a:rPr lang="en-US" dirty="0" err="1"/>
              <a:t>optimă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maximizare</a:t>
            </a:r>
            <a:endParaRPr lang="en-RO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RO"/>
          </a:p>
          <a:p>
            <a:endParaRPr lang="en-RO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RO"/>
              <a:t>Necesită </a:t>
            </a:r>
            <a:r>
              <a:rPr lang="en-RO" b="1" i="1"/>
              <a:t>balansarea</a:t>
            </a:r>
            <a:r>
              <a:rPr lang="en-RO"/>
              <a:t> recompenselor pe </a:t>
            </a:r>
            <a:r>
              <a:rPr lang="en-RO" i="1"/>
              <a:t>termen scurt și lung</a:t>
            </a:r>
            <a:r>
              <a:rPr lang="en-RO"/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E620E0-78F8-6908-D13E-1654CE48A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00" y="1084775"/>
            <a:ext cx="4737175" cy="3819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766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Deep Reinforcement Learning applications">
            <a:extLst>
              <a:ext uri="{FF2B5EF4-FFF2-40B4-BE49-F238E27FC236}">
                <a16:creationId xmlns:a16="http://schemas.microsoft.com/office/drawing/2014/main" id="{829B3D72-6877-E505-850D-FC14E251A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765" y="296370"/>
            <a:ext cx="6188470" cy="4550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197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7EEF8-AB2C-85FB-71A8-5AB91964D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397FF-D33A-EC99-BEEA-309975DBE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– </a:t>
            </a:r>
            <a:r>
              <a:rPr lang="en-US" dirty="0" err="1"/>
              <a:t>Scenariul</a:t>
            </a:r>
            <a:r>
              <a:rPr lang="en-US" dirty="0"/>
              <a:t> #1 – Energie</a:t>
            </a:r>
            <a:endParaRPr lang="en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FA0B0B-65C6-1ABC-7FDD-5C0211C5FA2F}"/>
              </a:ext>
            </a:extLst>
          </p:cNvPr>
          <p:cNvSpPr txBox="1"/>
          <p:nvPr/>
        </p:nvSpPr>
        <p:spPr>
          <a:xfrm>
            <a:off x="5860112" y="1737613"/>
            <a:ext cx="236948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RO" b="1"/>
              <a:t>Scopul</a:t>
            </a:r>
            <a:r>
              <a:rPr lang="en-RO"/>
              <a:t>: </a:t>
            </a:r>
            <a:r>
              <a:rPr lang="en-US" dirty="0" err="1"/>
              <a:t>răcirea</a:t>
            </a:r>
            <a:r>
              <a:rPr lang="en-US" dirty="0"/>
              <a:t> </a:t>
            </a:r>
            <a:r>
              <a:rPr lang="en-US" dirty="0" err="1"/>
              <a:t>centrelor</a:t>
            </a:r>
            <a:r>
              <a:rPr lang="en-US" dirty="0"/>
              <a:t> de date</a:t>
            </a:r>
            <a:endParaRPr lang="en-RO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RO"/>
          </a:p>
          <a:p>
            <a:endParaRPr lang="en-RO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Fun fact: </a:t>
            </a:r>
            <a:r>
              <a:rPr lang="en-US" dirty="0"/>
              <a:t>Google a </a:t>
            </a:r>
            <a:r>
              <a:rPr lang="en-US" dirty="0" err="1"/>
              <a:t>folosit</a:t>
            </a:r>
            <a:r>
              <a:rPr lang="en-US" dirty="0"/>
              <a:t> cu success </a:t>
            </a:r>
            <a:r>
              <a:rPr lang="en-US" dirty="0" err="1"/>
              <a:t>intelligența</a:t>
            </a:r>
            <a:r>
              <a:rPr lang="en-US" dirty="0"/>
              <a:t> </a:t>
            </a:r>
            <a:r>
              <a:rPr lang="en-US" dirty="0" err="1"/>
              <a:t>artificială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reduce </a:t>
            </a:r>
            <a:r>
              <a:rPr lang="en-US" dirty="0" err="1"/>
              <a:t>energia</a:t>
            </a:r>
            <a:r>
              <a:rPr lang="en-US" dirty="0"/>
              <a:t> </a:t>
            </a:r>
            <a:r>
              <a:rPr lang="en-US" dirty="0" err="1"/>
              <a:t>necesară</a:t>
            </a:r>
            <a:r>
              <a:rPr lang="en-US" dirty="0"/>
              <a:t> </a:t>
            </a:r>
            <a:r>
              <a:rPr lang="en-US" dirty="0" err="1"/>
              <a:t>răcirii</a:t>
            </a:r>
            <a:r>
              <a:rPr lang="en-US" dirty="0"/>
              <a:t> </a:t>
            </a:r>
            <a:r>
              <a:rPr lang="en-US" dirty="0" err="1"/>
              <a:t>centrelor</a:t>
            </a:r>
            <a:r>
              <a:rPr lang="en-US" dirty="0"/>
              <a:t> de date cu 40%!!!</a:t>
            </a:r>
            <a:endParaRPr lang="en-RO" b="1"/>
          </a:p>
        </p:txBody>
      </p:sp>
      <p:pic>
        <p:nvPicPr>
          <p:cNvPr id="4098" name="Picture 2" descr="Datacenters cooling">
            <a:extLst>
              <a:ext uri="{FF2B5EF4-FFF2-40B4-BE49-F238E27FC236}">
                <a16:creationId xmlns:a16="http://schemas.microsoft.com/office/drawing/2014/main" id="{5E98E943-CFFF-A6E3-94EC-F1791E11B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33" y="1710610"/>
            <a:ext cx="5578679" cy="2516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348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9FECF-86D8-C182-FB2A-DFB3EC2D7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4858-7583-4C8A-282C-6CAC15BD7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– </a:t>
            </a:r>
            <a:r>
              <a:rPr lang="en-US" dirty="0" err="1"/>
              <a:t>Scenariul</a:t>
            </a:r>
            <a:r>
              <a:rPr lang="en-US" dirty="0"/>
              <a:t> #2 – </a:t>
            </a:r>
            <a:r>
              <a:rPr lang="en-US" dirty="0" err="1"/>
              <a:t>Trafic</a:t>
            </a:r>
            <a:endParaRPr lang="en-RO"/>
          </a:p>
        </p:txBody>
      </p:sp>
      <p:pic>
        <p:nvPicPr>
          <p:cNvPr id="5122" name="Picture 2" descr="Figure 1">
            <a:extLst>
              <a:ext uri="{FF2B5EF4-FFF2-40B4-BE49-F238E27FC236}">
                <a16:creationId xmlns:a16="http://schemas.microsoft.com/office/drawing/2014/main" id="{A9AC881F-2BAD-9983-CFBD-A74625035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65" y="1158245"/>
            <a:ext cx="8286870" cy="335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08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578BC-4273-EA79-AC7F-B87318F16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Istoricul observațiilor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9B77E8-FC8B-254E-00D5-400308163CA8}"/>
                  </a:ext>
                </a:extLst>
              </p:cNvPr>
              <p:cNvSpPr txBox="1"/>
              <p:nvPr/>
            </p:nvSpPr>
            <p:spPr>
              <a:xfrm>
                <a:off x="5230424" y="1556859"/>
                <a:ext cx="3373976" cy="2960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RO"/>
                  <a:t>Istoricul la un moment de timp determinat, t: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RO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RO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RO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RO" b="1"/>
              </a:p>
              <a:p>
                <a:pPr lvl="1">
                  <a:lnSpc>
                    <a:spcPct val="150000"/>
                  </a:lnSpc>
                </a:pPr>
                <a:endParaRPr lang="en-RO" b="1"/>
              </a:p>
              <a:p>
                <a:pPr marL="2857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RO" b="1"/>
                  <a:t>Acțiunile sunt alese în baza istoricului. Cum?</a:t>
                </a:r>
              </a:p>
              <a:p>
                <a:pPr marL="2857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RO" b="1"/>
              </a:p>
              <a:p>
                <a:pPr lvl="1" algn="ctr">
                  <a:lnSpc>
                    <a:spcPct val="150000"/>
                  </a:lnSpc>
                </a:pPr>
                <a:r>
                  <a:rPr lang="en-RO"/>
                  <a:t>În baza unei funcții </a:t>
                </a:r>
                <a:r>
                  <a:rPr lang="en-RO" b="1"/>
                  <a:t>s</a:t>
                </a:r>
                <a:r>
                  <a:rPr lang="en-RO" b="1" baseline="-25000"/>
                  <a:t>t</a:t>
                </a:r>
                <a:r>
                  <a:rPr lang="en-RO" b="1"/>
                  <a:t> = f(h</a:t>
                </a:r>
                <a:r>
                  <a:rPr lang="en-RO" b="1" baseline="-25000"/>
                  <a:t>t</a:t>
                </a:r>
                <a:r>
                  <a:rPr lang="en-RO" b="1"/>
                  <a:t>)</a:t>
                </a:r>
              </a:p>
              <a:p>
                <a:pPr marL="2857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RO" b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9B77E8-FC8B-254E-00D5-400308163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424" y="1556859"/>
                <a:ext cx="3373976" cy="2960875"/>
              </a:xfrm>
              <a:prstGeom prst="rect">
                <a:avLst/>
              </a:prstGeom>
              <a:blipFill>
                <a:blip r:embed="rId2"/>
                <a:stretch>
                  <a:fillRect l="-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23109DCF-42BD-2070-7594-6E2B959B8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00" y="1084775"/>
            <a:ext cx="4737175" cy="3819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448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C6B7-80D2-C09C-7BEC-750E32DD8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Procese Stochastice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848AFC-F215-3891-A5A0-7F444A1D30FD}"/>
                  </a:ext>
                </a:extLst>
              </p:cNvPr>
              <p:cNvSpPr txBox="1"/>
              <p:nvPr/>
            </p:nvSpPr>
            <p:spPr>
              <a:xfrm>
                <a:off x="4882394" y="1762477"/>
                <a:ext cx="3722006" cy="23145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RO"/>
                  <a:t>Dinamica unui astfel de proces:</a:t>
                </a:r>
              </a:p>
              <a:p>
                <a:pPr lvl="1"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RO" b="1" i="1" smtClean="0">
                        <a:latin typeface="Cambria Math" panose="02040503050406030204" pitchFamily="18" charset="0"/>
                      </a:rPr>
                      <m:t>𝑷𝒓</m:t>
                    </m:r>
                    <m:r>
                      <a:rPr lang="en-RO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RO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RO" b="1"/>
              </a:p>
              <a:p>
                <a:pPr marL="2857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RO" b="1"/>
                  <a:t>Setul de stări este notat cu S.</a:t>
                </a:r>
              </a:p>
              <a:p>
                <a:pPr marL="2857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RO" b="1">
                    <a:solidFill>
                      <a:srgbClr val="FF0000"/>
                    </a:solidFill>
                  </a:rPr>
                  <a:t>Problema: orizont infinit al funcției Pr.</a:t>
                </a:r>
              </a:p>
              <a:p>
                <a:pPr marL="2857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RO" b="1">
                  <a:solidFill>
                    <a:srgbClr val="FF0000"/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RO">
                    <a:solidFill>
                      <a:schemeClr val="bg1">
                        <a:lumMod val="10000"/>
                      </a:schemeClr>
                    </a:solidFill>
                  </a:rPr>
                  <a:t>Care este soluția???</a:t>
                </a:r>
              </a:p>
              <a:p>
                <a:pPr marL="2857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RO" b="1">
                    <a:solidFill>
                      <a:srgbClr val="00B050"/>
                    </a:solidFill>
                  </a:rPr>
                  <a:t>Procese Markov</a:t>
                </a:r>
                <a:endParaRPr lang="en-RO" b="1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848AFC-F215-3891-A5A0-7F444A1D3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394" y="1762477"/>
                <a:ext cx="3722006" cy="2314544"/>
              </a:xfrm>
              <a:prstGeom prst="rect">
                <a:avLst/>
              </a:prstGeom>
              <a:blipFill>
                <a:blip r:embed="rId2"/>
                <a:stretch>
                  <a:fillRect l="-340" b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C1A3E2A-ADA8-30C7-1BA4-4C9DADAF5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70" y="1524003"/>
            <a:ext cx="3862701" cy="1568936"/>
          </a:xfrm>
          <a:prstGeom prst="rect">
            <a:avLst/>
          </a:prstGeom>
        </p:spPr>
      </p:pic>
      <p:pic>
        <p:nvPicPr>
          <p:cNvPr id="8196" name="Picture 4" descr="An abstract illustration showing the different between a deterministic and stochastic policy. There are two boxes, one labelled deterministic, and one labelled stochastic. Each has an arrow coming into it, from a circle labelled s, which is the state. The arrow leading from the deterministic policy points to a circle containing the letter a, which is the action that is selected.  The arrow leading from the stochastic policy points to a bar graph with four actions a, b, c, and d, each with a different height bar, illustrating the probability of each action being selected.">
            <a:extLst>
              <a:ext uri="{FF2B5EF4-FFF2-40B4-BE49-F238E27FC236}">
                <a16:creationId xmlns:a16="http://schemas.microsoft.com/office/drawing/2014/main" id="{B1A65703-5478-C57B-3B35-941EC40BA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628" y="3152297"/>
            <a:ext cx="2948322" cy="157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643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err="1"/>
              <a:t>Procese</a:t>
            </a:r>
            <a:r>
              <a:rPr lang="en" sz="4400"/>
              <a:t> Markov</a:t>
            </a:r>
            <a:endParaRPr sz="4400"/>
          </a:p>
        </p:txBody>
      </p:sp>
      <p:sp>
        <p:nvSpPr>
          <p:cNvPr id="2192" name="Google Shape;2192;p37"/>
          <p:cNvSpPr txBox="1">
            <a:spLocks noGrp="1"/>
          </p:cNvSpPr>
          <p:nvPr>
            <p:ph type="subTitle" idx="1"/>
          </p:nvPr>
        </p:nvSpPr>
        <p:spPr>
          <a:xfrm>
            <a:off x="2242297" y="3984875"/>
            <a:ext cx="2298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err="1"/>
              <a:t>Baza</a:t>
            </a:r>
            <a:r>
              <a:rPr lang="en"/>
              <a:t> </a:t>
            </a:r>
            <a:r>
              <a:rPr lang="en" err="1"/>
              <a:t>algoritmilor</a:t>
            </a:r>
            <a:r>
              <a:rPr lang="en"/>
              <a:t> </a:t>
            </a:r>
            <a:r>
              <a:rPr lang="en" err="1"/>
              <a:t>noștri</a:t>
            </a:r>
            <a:r>
              <a:rPr lang="en"/>
              <a:t>!</a:t>
            </a:r>
            <a:endParaRPr/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</a:t>
            </a:r>
            <a:r>
              <a:rPr lang="en-RO"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2</a:t>
            </a:r>
            <a:endParaRPr b="0" i="0"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dk1"/>
              </a:solidFill>
              <a:latin typeface="Merriweather;900"/>
            </a:endParaRP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8310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C6B7-80D2-C09C-7BEC-750E32DD8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Procese Markov</a:t>
            </a:r>
            <a:r>
              <a:rPr lang="en-US" dirty="0"/>
              <a:t> – </a:t>
            </a:r>
            <a:r>
              <a:rPr lang="en-US" dirty="0" err="1"/>
              <a:t>Definiție</a:t>
            </a:r>
            <a:endParaRPr lang="en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848AFC-F215-3891-A5A0-7F444A1D30FD}"/>
              </a:ext>
            </a:extLst>
          </p:cNvPr>
          <p:cNvSpPr txBox="1"/>
          <p:nvPr/>
        </p:nvSpPr>
        <p:spPr>
          <a:xfrm>
            <a:off x="5230424" y="1452084"/>
            <a:ext cx="3373976" cy="2637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/>
              <a:t>Procesele</a:t>
            </a:r>
            <a:r>
              <a:rPr lang="en-US" b="1" dirty="0"/>
              <a:t> Markov </a:t>
            </a:r>
            <a:r>
              <a:rPr lang="en-US" dirty="0"/>
              <a:t>sunt </a:t>
            </a:r>
            <a:r>
              <a:rPr lang="en-US" dirty="0" err="1"/>
              <a:t>procese</a:t>
            </a:r>
            <a:r>
              <a:rPr lang="en-US" dirty="0"/>
              <a:t> </a:t>
            </a:r>
            <a:r>
              <a:rPr lang="en-US" dirty="0" err="1"/>
              <a:t>stochastice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viitorul</a:t>
            </a:r>
            <a:r>
              <a:rPr lang="en-US" dirty="0"/>
              <a:t> </a:t>
            </a:r>
            <a:r>
              <a:rPr lang="en-US" dirty="0" err="1"/>
              <a:t>depinde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de present.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Mai precis, </a:t>
            </a:r>
            <a:r>
              <a:rPr lang="en-US" dirty="0"/>
              <a:t>un </a:t>
            </a:r>
            <a:r>
              <a:rPr lang="en-US" dirty="0" err="1"/>
              <a:t>proces</a:t>
            </a:r>
            <a:r>
              <a:rPr lang="en-US" dirty="0"/>
              <a:t> Markov </a:t>
            </a:r>
            <a:r>
              <a:rPr lang="en-US" dirty="0" err="1"/>
              <a:t>îndeplinește</a:t>
            </a:r>
            <a:r>
              <a:rPr lang="en-US" dirty="0"/>
              <a:t> </a:t>
            </a:r>
            <a:r>
              <a:rPr lang="en-US" dirty="0" err="1"/>
              <a:t>proprietatea</a:t>
            </a:r>
            <a:r>
              <a:rPr lang="en-US" dirty="0"/>
              <a:t> Markov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probabilitatea</a:t>
            </a:r>
            <a:r>
              <a:rPr lang="en-US" dirty="0"/>
              <a:t> de a </a:t>
            </a:r>
            <a:r>
              <a:rPr lang="en-US" dirty="0" err="1"/>
              <a:t>ajunge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-o stare </a:t>
            </a:r>
            <a:r>
              <a:rPr lang="en-US" dirty="0" err="1"/>
              <a:t>viitoare</a:t>
            </a:r>
            <a:r>
              <a:rPr lang="en-US" dirty="0"/>
              <a:t> </a:t>
            </a:r>
            <a:r>
              <a:rPr lang="en-US" dirty="0" err="1"/>
              <a:t>depinde</a:t>
            </a:r>
            <a:r>
              <a:rPr lang="en-US" dirty="0"/>
              <a:t> exclusive de </a:t>
            </a:r>
            <a:r>
              <a:rPr lang="en-US" dirty="0" err="1"/>
              <a:t>starea</a:t>
            </a:r>
            <a:r>
              <a:rPr lang="en-US" dirty="0"/>
              <a:t> </a:t>
            </a:r>
            <a:r>
              <a:rPr lang="en-US" dirty="0" err="1"/>
              <a:t>curentă</a:t>
            </a:r>
            <a:r>
              <a:rPr lang="en-US" dirty="0"/>
              <a:t>.</a:t>
            </a:r>
            <a:endParaRPr lang="en-R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1AF76C-43A6-F353-579F-918B1EAA2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930400"/>
            <a:ext cx="4254500" cy="414334"/>
          </a:xfrm>
          <a:prstGeom prst="rect">
            <a:avLst/>
          </a:prstGeom>
        </p:spPr>
      </p:pic>
      <p:pic>
        <p:nvPicPr>
          <p:cNvPr id="8" name="Picture 7" descr="A picture containing text, pool ball&#10;&#10;Description automatically generated">
            <a:extLst>
              <a:ext uri="{FF2B5EF4-FFF2-40B4-BE49-F238E27FC236}">
                <a16:creationId xmlns:a16="http://schemas.microsoft.com/office/drawing/2014/main" id="{473864AB-E605-1717-7AEA-3BE239491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3190359"/>
            <a:ext cx="4278566" cy="97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94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0AFA7-D165-3B7B-C02C-CFAAB33E0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BF5D-5759-52BE-4B79-B14CCD560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Procese Markov</a:t>
            </a:r>
            <a:r>
              <a:rPr lang="en-US" dirty="0"/>
              <a:t> - </a:t>
            </a:r>
            <a:r>
              <a:rPr lang="en-US" dirty="0" err="1"/>
              <a:t>Ordine</a:t>
            </a:r>
            <a:endParaRPr lang="en-R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378DE6-4F74-E9CF-2341-7EBDBFAA01AA}"/>
                  </a:ext>
                </a:extLst>
              </p:cNvPr>
              <p:cNvSpPr txBox="1"/>
              <p:nvPr/>
            </p:nvSpPr>
            <p:spPr>
              <a:xfrm>
                <a:off x="5230424" y="1452084"/>
                <a:ext cx="3373976" cy="2637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RO" b="1">
                    <a:solidFill>
                      <a:schemeClr val="bg1">
                        <a:lumMod val="10000"/>
                      </a:schemeClr>
                    </a:solidFill>
                  </a:rPr>
                  <a:t>Starea curentă depinde doar de un set finit de stări din trecut. </a:t>
                </a:r>
              </a:p>
              <a:p>
                <a:pPr>
                  <a:lnSpc>
                    <a:spcPct val="150000"/>
                  </a:lnSpc>
                </a:pPr>
                <a:endParaRPr lang="en-RO" b="1">
                  <a:solidFill>
                    <a:schemeClr val="bg1">
                      <a:lumMod val="10000"/>
                    </a:schemeClr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RO" b="1">
                    <a:solidFill>
                      <a:schemeClr val="bg1">
                        <a:lumMod val="10000"/>
                      </a:schemeClr>
                    </a:solidFill>
                  </a:rPr>
                  <a:t>Procese Markov de ordinul I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RO" b="1" i="1" smtClean="0">
                        <a:latin typeface="Cambria Math" panose="02040503050406030204" pitchFamily="18" charset="0"/>
                      </a:rPr>
                      <m:t>𝑷𝒓</m:t>
                    </m:r>
                    <m:r>
                      <a:rPr lang="en-RO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RO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r>
                      <a:rPr lang="en-RO" b="1" i="1">
                        <a:latin typeface="Cambria Math" panose="02040503050406030204" pitchFamily="18" charset="0"/>
                      </a:rPr>
                      <m:t>𝑷𝒓</m:t>
                    </m:r>
                    <m:r>
                      <a:rPr lang="en-RO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RO" b="1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RO" b="1"/>
              </a:p>
              <a:p>
                <a:pPr algn="ctr">
                  <a:lnSpc>
                    <a:spcPct val="150000"/>
                  </a:lnSpc>
                </a:pPr>
                <a:endParaRPr lang="en-RO" b="1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RO" b="1">
                    <a:solidFill>
                      <a:schemeClr val="bg1">
                        <a:lumMod val="10000"/>
                      </a:schemeClr>
                    </a:solidFill>
                  </a:rPr>
                  <a:t>Procese Markov de ordinul II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RO" b="1" i="1">
                        <a:latin typeface="Cambria Math" panose="02040503050406030204" pitchFamily="18" charset="0"/>
                      </a:rPr>
                      <m:t>𝑷𝒓</m:t>
                    </m:r>
                    <m:r>
                      <a:rPr lang="en-RO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RO" b="1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RO" b="1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RO" b="1" i="1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r>
                      <a:rPr lang="en-RO" b="1" i="1">
                        <a:latin typeface="Cambria Math" panose="02040503050406030204" pitchFamily="18" charset="0"/>
                      </a:rPr>
                      <m:t>𝑷𝒓</m:t>
                    </m:r>
                    <m:r>
                      <a:rPr lang="en-RO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RO" b="1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RO" b="1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RO" b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848AFC-F215-3891-A5A0-7F444A1D3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424" y="1452084"/>
                <a:ext cx="3373976" cy="2637710"/>
              </a:xfrm>
              <a:prstGeom prst="rect">
                <a:avLst/>
              </a:prstGeom>
              <a:blipFill>
                <a:blip r:embed="rId2"/>
                <a:stretch>
                  <a:fillRect l="-542" b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2D3B124-4644-9412-026A-4118159B8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1930400"/>
            <a:ext cx="4254500" cy="414334"/>
          </a:xfrm>
          <a:prstGeom prst="rect">
            <a:avLst/>
          </a:prstGeom>
        </p:spPr>
      </p:pic>
      <p:pic>
        <p:nvPicPr>
          <p:cNvPr id="8" name="Picture 7" descr="A picture containing text, pool ball&#10;&#10;Description automatically generated">
            <a:extLst>
              <a:ext uri="{FF2B5EF4-FFF2-40B4-BE49-F238E27FC236}">
                <a16:creationId xmlns:a16="http://schemas.microsoft.com/office/drawing/2014/main" id="{CDB23197-9BCE-20F9-AE09-DD6C21535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" y="3190359"/>
            <a:ext cx="4278566" cy="97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211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C6B7-80D2-C09C-7BEC-750E32DD8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00" y="328132"/>
            <a:ext cx="8064900" cy="744300"/>
          </a:xfrm>
        </p:spPr>
        <p:txBody>
          <a:bodyPr/>
          <a:lstStyle/>
          <a:p>
            <a:r>
              <a:rPr lang="en-RO"/>
              <a:t>Procese Markov – </a:t>
            </a:r>
            <a:r>
              <a:rPr lang="en-US" dirty="0"/>
              <a:t>S</a:t>
            </a:r>
            <a:r>
              <a:rPr lang="en-RO"/>
              <a:t>taționaritate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848AFC-F215-3891-A5A0-7F444A1D30FD}"/>
                  </a:ext>
                </a:extLst>
              </p:cNvPr>
              <p:cNvSpPr txBox="1"/>
              <p:nvPr/>
            </p:nvSpPr>
            <p:spPr>
              <a:xfrm>
                <a:off x="5230424" y="1452084"/>
                <a:ext cx="3373976" cy="3373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RO" b="1">
                    <a:solidFill>
                      <a:schemeClr val="bg1">
                        <a:lumMod val="10000"/>
                      </a:schemeClr>
                    </a:solidFill>
                  </a:rPr>
                  <a:t>În mod implicit, un proces Markov se referă la cel de ordinul I.</a:t>
                </a:r>
              </a:p>
              <a:p>
                <a:pPr>
                  <a:lnSpc>
                    <a:spcPct val="150000"/>
                  </a:lnSpc>
                </a:pPr>
                <a:endParaRPr lang="en-RO" b="1">
                  <a:solidFill>
                    <a:schemeClr val="bg1">
                      <a:lumMod val="10000"/>
                    </a:schemeClr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RO" b="1" i="1" smtClean="0">
                        <a:latin typeface="Cambria Math" panose="02040503050406030204" pitchFamily="18" charset="0"/>
                      </a:rPr>
                      <m:t>𝑷𝒓</m:t>
                    </m:r>
                    <m:r>
                      <a:rPr lang="en-RO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RO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r>
                      <a:rPr lang="en-RO" b="1" i="1">
                        <a:latin typeface="Cambria Math" panose="02040503050406030204" pitchFamily="18" charset="0"/>
                      </a:rPr>
                      <m:t>𝑷𝒓</m:t>
                    </m:r>
                    <m:r>
                      <a:rPr lang="en-RO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RO" b="1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RO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RO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RO" b="1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endParaRPr lang="en-RO" b="1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RO"/>
                  <a:t>Extindem reprezentarea de mai sus către termenul de </a:t>
                </a:r>
                <a:r>
                  <a:rPr lang="en-RO" b="1" i="1"/>
                  <a:t>proces staționar:</a:t>
                </a:r>
              </a:p>
              <a:p>
                <a:pPr>
                  <a:lnSpc>
                    <a:spcPct val="150000"/>
                  </a:lnSpc>
                </a:pPr>
                <a:endParaRPr lang="en-RO" b="1" i="1"/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RO" b="1" i="1" smtClean="0">
                        <a:latin typeface="Cambria Math" panose="02040503050406030204" pitchFamily="18" charset="0"/>
                      </a:rPr>
                      <m:t>𝑷𝒓</m:t>
                    </m:r>
                    <m:r>
                      <a:rPr lang="en-RO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RO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r>
                      <a:rPr lang="en-RO" b="1" i="1">
                        <a:latin typeface="Cambria Math" panose="02040503050406030204" pitchFamily="18" charset="0"/>
                      </a:rPr>
                      <m:t>𝑷𝒓</m:t>
                    </m:r>
                    <m:r>
                      <a:rPr lang="en-RO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sSup>
                          <m:sSupPr>
                            <m:ctrlPr>
                              <a:rPr lang="en-RO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RO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p>
                            <m:r>
                              <a:rPr lang="en-RO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RO" b="1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RO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sSup>
                          <m:sSupPr>
                            <m:ctrlPr>
                              <a:rPr lang="en-RO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RO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p>
                            <m:r>
                              <a:rPr lang="en-RO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RO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RO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RO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sSup>
                      <m:sSupPr>
                        <m:ctrlP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RO" b="1"/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n-RO" b="1" i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848AFC-F215-3891-A5A0-7F444A1D3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424" y="1452084"/>
                <a:ext cx="3373976" cy="3373103"/>
              </a:xfrm>
              <a:prstGeom prst="rect">
                <a:avLst/>
              </a:prstGeom>
              <a:blipFill>
                <a:blip r:embed="rId2"/>
                <a:stretch>
                  <a:fillRect l="-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F1AF76C-43A6-F353-579F-918B1EAA2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" y="2157416"/>
            <a:ext cx="4254500" cy="4143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195190-92F1-F059-1404-1D56C8E9797D}"/>
                  </a:ext>
                </a:extLst>
              </p:cNvPr>
              <p:cNvSpPr txBox="1"/>
              <p:nvPr/>
            </p:nvSpPr>
            <p:spPr>
              <a:xfrm>
                <a:off x="828811" y="3347308"/>
                <a:ext cx="3373976" cy="698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RO">
                    <a:solidFill>
                      <a:schemeClr val="bg1">
                        <a:lumMod val="10000"/>
                      </a:schemeClr>
                    </a:solidFill>
                  </a:rPr>
                  <a:t>Avantajul unui proces staționar: </a:t>
                </a:r>
                <a:r>
                  <a:rPr lang="en-RO" b="1">
                    <a:solidFill>
                      <a:srgbClr val="00B050"/>
                    </a:solidFill>
                  </a:rPr>
                  <a:t>reprezentarea simplă! </a:t>
                </a:r>
                <a14:m>
                  <m:oMath xmlns:m="http://schemas.openxmlformats.org/officeDocument/2006/math">
                    <m:r>
                      <a:rPr lang="en-RO" b="1" i="1" smtClean="0">
                        <a:latin typeface="Cambria Math" panose="02040503050406030204" pitchFamily="18" charset="0"/>
                      </a:rPr>
                      <m:t>𝑷𝒓</m:t>
                    </m:r>
                    <m:d>
                      <m:dPr>
                        <m:endChr m:val="|"/>
                        <m:ctrlPr>
                          <a:rPr lang="en-RO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RO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RO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RO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RO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RO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RO" b="1" i="1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195190-92F1-F059-1404-1D56C8E97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811" y="3347308"/>
                <a:ext cx="3373976" cy="698717"/>
              </a:xfrm>
              <a:prstGeom prst="rect">
                <a:avLst/>
              </a:prstGeom>
              <a:blipFill>
                <a:blip r:embed="rId4"/>
                <a:stretch>
                  <a:fillRect l="-542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Google Shape;2499;p46">
            <a:extLst>
              <a:ext uri="{FF2B5EF4-FFF2-40B4-BE49-F238E27FC236}">
                <a16:creationId xmlns:a16="http://schemas.microsoft.com/office/drawing/2014/main" id="{FED1F881-37E5-3AB7-3CB0-AF234CBAC0C1}"/>
              </a:ext>
            </a:extLst>
          </p:cNvPr>
          <p:cNvCxnSpPr>
            <a:cxnSpLocks/>
          </p:cNvCxnSpPr>
          <p:nvPr/>
        </p:nvCxnSpPr>
        <p:spPr>
          <a:xfrm rot="10800000">
            <a:off x="3913578" y="3695702"/>
            <a:ext cx="1316849" cy="1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2335724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A8832-B04E-3F6F-64C4-188FD1EA8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00" y="345867"/>
            <a:ext cx="8064900" cy="744300"/>
          </a:xfrm>
        </p:spPr>
        <p:txBody>
          <a:bodyPr/>
          <a:lstStyle/>
          <a:p>
            <a:r>
              <a:rPr lang="en-RO"/>
              <a:t>Întrebări naturale…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B36AB-2BC4-428A-6357-8AA069095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RO"/>
              <a:t>Cum reprezentăm stările? Cât de multe caracteristici adăugăm?</a:t>
            </a:r>
          </a:p>
          <a:p>
            <a:pPr lvl="1"/>
            <a:r>
              <a:rPr lang="en-RO"/>
              <a:t>Răspuns: Până când procesul poate fi considerat Markovian, respectiv staționar.</a:t>
            </a:r>
          </a:p>
          <a:p>
            <a:pPr marL="596900" lvl="1" indent="0">
              <a:buNone/>
            </a:pPr>
            <a:endParaRPr lang="en-RO"/>
          </a:p>
          <a:p>
            <a:r>
              <a:rPr lang="en-RO"/>
              <a:t>Există posibilitatea să adăugăm prea multe componente unei stări?</a:t>
            </a:r>
          </a:p>
          <a:p>
            <a:pPr lvl="1"/>
            <a:r>
              <a:rPr lang="en-RO"/>
              <a:t>Răspuns: Da! Adăugarea de componente va crește complexitatea calculelor, implicit necesarul computațional.</a:t>
            </a:r>
          </a:p>
          <a:p>
            <a:pPr lvl="1"/>
            <a:r>
              <a:rPr lang="en-RO"/>
              <a:t>Soluția: Căutam cel mai mic subset de caracteristici care descrie procesul complet procesul Markovian!</a:t>
            </a:r>
          </a:p>
          <a:p>
            <a:pPr lvl="1"/>
            <a:endParaRPr lang="en-RO"/>
          </a:p>
          <a:p>
            <a:r>
              <a:rPr lang="en-RO"/>
              <a:t>Ce utilizăm în practică?</a:t>
            </a:r>
          </a:p>
          <a:p>
            <a:pPr lvl="1"/>
            <a:r>
              <a:rPr lang="en-RO"/>
              <a:t>Răspuns: Cel mai frecvent vom utiliza următoarea presupunere -&gt;</a:t>
            </a:r>
            <a:r>
              <a:rPr lang="en-RO" b="1" i="1"/>
              <a:t> s</a:t>
            </a:r>
            <a:r>
              <a:rPr lang="en-RO" b="1" i="1" baseline="-25000"/>
              <a:t>t </a:t>
            </a:r>
            <a:r>
              <a:rPr lang="en-RO" b="1" i="1"/>
              <a:t>= o</a:t>
            </a:r>
            <a:r>
              <a:rPr lang="en-RO" b="1" i="1" baseline="-25000"/>
              <a:t>t</a:t>
            </a:r>
            <a:endParaRPr lang="en-RO" b="1" i="1"/>
          </a:p>
        </p:txBody>
      </p:sp>
    </p:spTree>
    <p:extLst>
      <p:ext uri="{BB962C8B-B14F-4D97-AF65-F5344CB8AC3E}">
        <p14:creationId xmlns:p14="http://schemas.microsoft.com/office/powerpoint/2010/main" val="2400012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A8832-B04E-3F6F-64C4-188FD1EA8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Despre decizii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B36AB-2BC4-428A-6357-8AA069095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RO"/>
              <a:t>Considerăm faptul că simplele predicții sunt inutile. De ce???</a:t>
            </a:r>
          </a:p>
          <a:p>
            <a:pPr lvl="1"/>
            <a:r>
              <a:rPr lang="en-RO"/>
              <a:t>Răspuns: Dorim să obținem informații care vor influența alegerile viitoare, nu simple predicții utile unui singur moment.</a:t>
            </a:r>
          </a:p>
          <a:p>
            <a:pPr marL="596900" lvl="1" indent="0">
              <a:buNone/>
            </a:pPr>
            <a:endParaRPr lang="en-RO"/>
          </a:p>
          <a:p>
            <a:r>
              <a:rPr lang="en-RO"/>
              <a:t>Astfel, sarcina noastră constă în conceperea unor algoritmi capabili să furnizeze decizii!</a:t>
            </a:r>
          </a:p>
          <a:p>
            <a:pPr lvl="1"/>
            <a:endParaRPr lang="en-RO"/>
          </a:p>
          <a:p>
            <a:r>
              <a:rPr lang="en-RO"/>
              <a:t>Dar, cum influențăm deciziile? Cum construim acest algoritm?</a:t>
            </a:r>
          </a:p>
          <a:p>
            <a:pPr lvl="1"/>
            <a:r>
              <a:rPr lang="en-RO"/>
              <a:t>Răspuns: </a:t>
            </a:r>
            <a:r>
              <a:rPr lang="en-RO" b="1" i="1"/>
              <a:t>Procese Decizionale Markov!</a:t>
            </a:r>
          </a:p>
        </p:txBody>
      </p:sp>
    </p:spTree>
    <p:extLst>
      <p:ext uri="{BB962C8B-B14F-4D97-AF65-F5344CB8AC3E}">
        <p14:creationId xmlns:p14="http://schemas.microsoft.com/office/powerpoint/2010/main" val="3336946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F4192-7525-2968-148B-4E4822473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825F7-850F-6245-78B4-52EE37156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Procese </a:t>
            </a:r>
            <a:r>
              <a:rPr lang="en-US" dirty="0" err="1"/>
              <a:t>Decizionale</a:t>
            </a:r>
            <a:r>
              <a:rPr lang="en-US" dirty="0"/>
              <a:t> </a:t>
            </a:r>
            <a:r>
              <a:rPr lang="en-RO"/>
              <a:t>Markov</a:t>
            </a:r>
            <a:r>
              <a:rPr lang="en-US" dirty="0"/>
              <a:t> (MDP)</a:t>
            </a:r>
            <a:endParaRPr lang="en-R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F95585-958C-91D7-D484-263CDD5F6016}"/>
              </a:ext>
            </a:extLst>
          </p:cNvPr>
          <p:cNvSpPr txBox="1"/>
          <p:nvPr/>
        </p:nvSpPr>
        <p:spPr>
          <a:xfrm>
            <a:off x="539500" y="1443695"/>
            <a:ext cx="8064900" cy="1021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Un </a:t>
            </a:r>
            <a:r>
              <a:rPr lang="en-US" b="1" dirty="0" err="1"/>
              <a:t>Proces</a:t>
            </a:r>
            <a:r>
              <a:rPr lang="en-US" b="1" dirty="0"/>
              <a:t> </a:t>
            </a:r>
            <a:r>
              <a:rPr lang="en-US" b="1" dirty="0" err="1"/>
              <a:t>Decizional</a:t>
            </a:r>
            <a:r>
              <a:rPr lang="en-US" b="1" dirty="0"/>
              <a:t> Markov (MDP)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formulare</a:t>
            </a:r>
            <a:r>
              <a:rPr lang="en-US" dirty="0"/>
              <a:t> </a:t>
            </a:r>
            <a:r>
              <a:rPr lang="en-US" dirty="0" err="1"/>
              <a:t>matematică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mediu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un agent </a:t>
            </a:r>
            <a:r>
              <a:rPr lang="en-US" dirty="0" err="1"/>
              <a:t>interacționează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mod </a:t>
            </a:r>
            <a:r>
              <a:rPr lang="en-US" dirty="0" err="1"/>
              <a:t>secvențial</a:t>
            </a:r>
            <a:r>
              <a:rPr lang="en-US" dirty="0"/>
              <a:t>, </a:t>
            </a:r>
            <a:r>
              <a:rPr lang="en-US" dirty="0" err="1"/>
              <a:t>luând</a:t>
            </a:r>
            <a:r>
              <a:rPr lang="en-US" dirty="0"/>
              <a:t> </a:t>
            </a:r>
            <a:r>
              <a:rPr lang="en-US" dirty="0" err="1"/>
              <a:t>decizii</a:t>
            </a:r>
            <a:r>
              <a:rPr lang="en-US" dirty="0"/>
              <a:t> care </a:t>
            </a:r>
            <a:r>
              <a:rPr lang="en-US" dirty="0" err="1"/>
              <a:t>influențează</a:t>
            </a:r>
            <a:r>
              <a:rPr lang="en-US" dirty="0"/>
              <a:t> sterile </a:t>
            </a:r>
            <a:r>
              <a:rPr lang="en-US" dirty="0" err="1"/>
              <a:t>viitoare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recompensele</a:t>
            </a:r>
            <a:r>
              <a:rPr lang="en-US" dirty="0"/>
              <a:t> </a:t>
            </a:r>
            <a:r>
              <a:rPr lang="en-US" dirty="0" err="1"/>
              <a:t>primite</a:t>
            </a:r>
            <a:r>
              <a:rPr lang="en-US" dirty="0"/>
              <a:t>.</a:t>
            </a:r>
            <a:endParaRPr lang="en-RO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BBBA7CA-C29A-BE2D-5F35-84CB8B351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800" y="2260600"/>
            <a:ext cx="2654300" cy="622300"/>
          </a:xfrm>
          <a:prstGeom prst="rect">
            <a:avLst/>
          </a:prstGeom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C9F60E5-7E7B-DB43-FF92-1646D883C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50" y="3001424"/>
            <a:ext cx="7772400" cy="117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62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err="1"/>
              <a:t>Algoritmi</a:t>
            </a:r>
            <a:r>
              <a:rPr lang="en" sz="4400"/>
              <a:t> RL</a:t>
            </a:r>
            <a:endParaRPr sz="4400"/>
          </a:p>
        </p:txBody>
      </p:sp>
      <p:sp>
        <p:nvSpPr>
          <p:cNvPr id="2192" name="Google Shape;2192;p37"/>
          <p:cNvSpPr txBox="1">
            <a:spLocks noGrp="1"/>
          </p:cNvSpPr>
          <p:nvPr>
            <p:ph type="subTitle" idx="1"/>
          </p:nvPr>
        </p:nvSpPr>
        <p:spPr>
          <a:xfrm>
            <a:off x="2242297" y="3984875"/>
            <a:ext cx="2298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err="1"/>
              <a:t>Începe</a:t>
            </a:r>
            <a:r>
              <a:rPr lang="en"/>
              <a:t> </a:t>
            </a:r>
            <a:r>
              <a:rPr lang="en" err="1"/>
              <a:t>distracția</a:t>
            </a:r>
            <a:r>
              <a:rPr lang="en"/>
              <a:t>!</a:t>
            </a:r>
            <a:endParaRPr/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</a:t>
            </a:r>
            <a:r>
              <a:rPr lang="en-RO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3</a:t>
            </a:r>
            <a:endParaRPr b="0" i="0"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dk1"/>
              </a:solidFill>
              <a:latin typeface="Merriweather;900"/>
            </a:endParaRP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6539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38"/>
          <p:cNvSpPr txBox="1">
            <a:spLocks noGrp="1"/>
          </p:cNvSpPr>
          <p:nvPr>
            <p:ph type="title"/>
          </p:nvPr>
        </p:nvSpPr>
        <p:spPr>
          <a:xfrm>
            <a:off x="2098025" y="1334693"/>
            <a:ext cx="49476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/>
              <a:t>Algoritmi RL</a:t>
            </a:r>
          </a:p>
        </p:txBody>
      </p:sp>
      <p:sp>
        <p:nvSpPr>
          <p:cNvPr id="2216" name="Google Shape;2216;p38"/>
          <p:cNvSpPr txBox="1">
            <a:spLocks noGrp="1"/>
          </p:cNvSpPr>
          <p:nvPr>
            <p:ph type="subTitle" idx="1"/>
          </p:nvPr>
        </p:nvSpPr>
        <p:spPr>
          <a:xfrm>
            <a:off x="2098025" y="2119193"/>
            <a:ext cx="4947600" cy="13730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ro-RO"/>
              <a:t>Cuprind una sau mai multe dintre următoarele componente: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endParaRPr lang="ro-RO"/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ro-RO" sz="1600" b="1"/>
              <a:t>Model</a:t>
            </a:r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ro-RO" sz="1600" b="1"/>
              <a:t>Politică (</a:t>
            </a:r>
            <a:r>
              <a:rPr lang="ro-RO" sz="1600" b="1" err="1"/>
              <a:t>Policy</a:t>
            </a:r>
            <a:r>
              <a:rPr lang="ro-RO" sz="1600" b="1"/>
              <a:t>)</a:t>
            </a:r>
          </a:p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ro-RO" sz="1600" b="1" err="1"/>
              <a:t>Value</a:t>
            </a:r>
            <a:r>
              <a:rPr lang="ro-RO" sz="1600" b="1"/>
              <a:t> </a:t>
            </a:r>
            <a:r>
              <a:rPr lang="ro-RO" sz="1600" b="1" err="1"/>
              <a:t>Function</a:t>
            </a:r>
            <a:endParaRPr lang="ro-RO" sz="1600" b="1"/>
          </a:p>
        </p:txBody>
      </p:sp>
      <p:sp>
        <p:nvSpPr>
          <p:cNvPr id="2217" name="Google Shape;2217;p38"/>
          <p:cNvSpPr/>
          <p:nvPr/>
        </p:nvSpPr>
        <p:spPr>
          <a:xfrm flipH="1">
            <a:off x="1526099" y="926845"/>
            <a:ext cx="336300" cy="327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18" name="Google Shape;2218;p38"/>
          <p:cNvGrpSpPr/>
          <p:nvPr/>
        </p:nvGrpSpPr>
        <p:grpSpPr>
          <a:xfrm rot="10800000">
            <a:off x="1124208" y="3890592"/>
            <a:ext cx="1728455" cy="905443"/>
            <a:chOff x="7055900" y="279450"/>
            <a:chExt cx="1820576" cy="953700"/>
          </a:xfrm>
        </p:grpSpPr>
        <p:sp>
          <p:nvSpPr>
            <p:cNvPr id="2219" name="Google Shape;2219;p38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38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38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38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38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4" name="Google Shape;2224;p38"/>
          <p:cNvSpPr/>
          <p:nvPr/>
        </p:nvSpPr>
        <p:spPr>
          <a:xfrm flipH="1">
            <a:off x="989350" y="586499"/>
            <a:ext cx="245400" cy="2385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5" name="Google Shape;2225;p38"/>
          <p:cNvSpPr/>
          <p:nvPr/>
        </p:nvSpPr>
        <p:spPr>
          <a:xfrm flipH="1">
            <a:off x="3868125" y="4302574"/>
            <a:ext cx="245400" cy="2385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A8832-B04E-3F6F-64C4-188FD1EA8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Modelul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1B36AB-2BC4-428A-6357-8AA06909541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18203" y="1486399"/>
                <a:ext cx="7513500" cy="296640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RO"/>
                  <a:t>Este reprezentarea agentului pentru felul în care mediul se va schimba în urma unei anumite acțiuni.</a:t>
                </a:r>
              </a:p>
              <a:p>
                <a:pPr marL="139700" indent="0">
                  <a:lnSpc>
                    <a:spcPct val="150000"/>
                  </a:lnSpc>
                  <a:buNone/>
                </a:pPr>
                <a:endParaRPr lang="en-RO"/>
              </a:p>
              <a:p>
                <a:pPr>
                  <a:lnSpc>
                    <a:spcPct val="150000"/>
                  </a:lnSpc>
                </a:pPr>
                <a:r>
                  <a:rPr lang="en-RO"/>
                  <a:t>Tranzițiile (felul în care agentul </a:t>
                </a:r>
                <a:r>
                  <a:rPr lang="en-US" dirty="0"/>
                  <a:t>“</a:t>
                </a:r>
                <a:r>
                  <a:rPr lang="en-RO"/>
                  <a:t>prezice</a:t>
                </a:r>
                <a:r>
                  <a:rPr lang="en-US" dirty="0"/>
                  <a:t>”</a:t>
                </a:r>
                <a:r>
                  <a:rPr lang="en-RO"/>
                  <a:t> următoarea stare):</a:t>
                </a:r>
              </a:p>
              <a:p>
                <a:pPr marL="13970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endChr m:val="|"/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p>
                              <m: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R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RO"/>
              </a:p>
              <a:p>
                <a:pPr marL="139700" indent="0">
                  <a:lnSpc>
                    <a:spcPct val="150000"/>
                  </a:lnSpc>
                  <a:buNone/>
                </a:pPr>
                <a:endParaRPr lang="en-RO"/>
              </a:p>
              <a:p>
                <a:pPr>
                  <a:lnSpc>
                    <a:spcPct val="150000"/>
                  </a:lnSpc>
                </a:pPr>
                <a:r>
                  <a:rPr lang="en-RO"/>
                  <a:t>Metodologia de predicție a recompenselor:</a:t>
                </a:r>
              </a:p>
              <a:p>
                <a:pPr marL="13970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𝒓</m:t>
                      </m:r>
                      <m:d>
                        <m:dPr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RO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RO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RO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RO"/>
              </a:p>
              <a:p>
                <a:pPr marL="139700" indent="0">
                  <a:lnSpc>
                    <a:spcPct val="150000"/>
                  </a:lnSpc>
                  <a:buNone/>
                </a:pPr>
                <a:endParaRPr lang="en-RO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1B36AB-2BC4-428A-6357-8AA0690954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18203" y="1486399"/>
                <a:ext cx="7513500" cy="2966400"/>
              </a:xfrm>
              <a:blipFill>
                <a:blip r:embed="rId2"/>
                <a:stretch>
                  <a:fillRect r="-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1636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CA8832-B04E-3F6F-64C4-188FD1EA851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RO"/>
                  <a:t>Politica (Policy) - </a:t>
                </a:r>
                <a14:m>
                  <m:oMath xmlns:m="http://schemas.openxmlformats.org/officeDocument/2006/math">
                    <m:r>
                      <a:rPr lang="en-R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RO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CA8832-B04E-3F6F-64C4-188FD1EA85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1B36AB-2BC4-428A-6357-8AA06909541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RO"/>
                  <a:t>O politică determină felul în care agentul alege acțiunile pe care le execută. Este o funcție de forma </a:t>
                </a:r>
                <a:endParaRPr lang="en-RO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13970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RO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RO"/>
              </a:p>
              <a:p>
                <a:pPr marL="139700" indent="0">
                  <a:lnSpc>
                    <a:spcPct val="150000"/>
                  </a:lnSpc>
                  <a:buNone/>
                </a:pPr>
                <a:endParaRPr lang="en-RO"/>
              </a:p>
              <a:p>
                <a:pPr>
                  <a:lnSpc>
                    <a:spcPct val="150000"/>
                  </a:lnSpc>
                </a:pPr>
                <a:r>
                  <a:rPr lang="en-RO"/>
                  <a:t>Politici deterministe:       </a:t>
                </a:r>
                <a14:m>
                  <m:oMath xmlns:m="http://schemas.openxmlformats.org/officeDocument/2006/math">
                    <m:r>
                      <a:rPr lang="en-R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d>
                      <m:dPr>
                        <m:ctrlP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lang="en-RO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RO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</m:oMath>
                </a14:m>
                <a:endParaRPr lang="en-RO"/>
              </a:p>
              <a:p>
                <a:pPr marL="139700" indent="0">
                  <a:lnSpc>
                    <a:spcPct val="150000"/>
                  </a:lnSpc>
                  <a:buNone/>
                </a:pPr>
                <a:endParaRPr lang="en-RO"/>
              </a:p>
              <a:p>
                <a:pPr>
                  <a:lnSpc>
                    <a:spcPct val="150000"/>
                  </a:lnSpc>
                </a:pPr>
                <a:r>
                  <a:rPr lang="en-RO"/>
                  <a:t>Politici stochastice:          </a:t>
                </a:r>
                <a14:m>
                  <m:oMath xmlns:m="http://schemas.openxmlformats.org/officeDocument/2006/math">
                    <m:r>
                      <a:rPr lang="en-R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d>
                      <m:dPr>
                        <m:ctrlP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lang="en-RO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RO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𝑷𝒓</m:t>
                    </m:r>
                    <m:d>
                      <m:dPr>
                        <m:ctrlPr>
                          <a:rPr lang="en-R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RO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O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RO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n-RO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RO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O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RO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n-RO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RO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</m:d>
                  </m:oMath>
                </a14:m>
                <a:endParaRPr lang="en-RO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1B36AB-2BC4-428A-6357-8AA0690954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537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CA8832-B04E-3F6F-64C4-188FD1EA851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RO"/>
                  <a:t>Value Function-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RO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RO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RO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en-US" dirty="0"/>
                  <a:t> / V(s)</a:t>
                </a:r>
                <a:endParaRPr lang="en-RO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9CA8832-B04E-3F6F-64C4-188FD1EA85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1B36AB-2BC4-428A-6357-8AA06909541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41641" y="1342239"/>
                <a:ext cx="7513500" cy="3123553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RO"/>
                  <a:t>Reprezintă suma recompenselor (cu discount), sub o anumită politică aplicată. </a:t>
                </a:r>
                <a:endParaRPr lang="en-RO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13970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RO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sup>
                      </m:sSup>
                      <m:d>
                        <m:dPr>
                          <m:ctrlP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RO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𝜸</m:t>
                      </m:r>
                      <m:sSub>
                        <m:sSubPr>
                          <m:ctrlP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𝜸</m:t>
                          </m:r>
                        </m:e>
                        <m:sup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b>
                        <m:sSubPr>
                          <m:ctrlP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𝜸</m:t>
                          </m:r>
                        </m:e>
                        <m:sup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sSub>
                        <m:sSubPr>
                          <m:ctrlP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+…|</m:t>
                      </m:r>
                      <m:sSub>
                        <m:sSubPr>
                          <m:ctrlP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RO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</m:t>
                      </m:r>
                      <m:r>
                        <a:rPr lang="en-RO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139700" indent="0" algn="ctr">
                  <a:lnSpc>
                    <a:spcPct val="150000"/>
                  </a:lnSpc>
                  <a:buNone/>
                </a:pPr>
                <a:r>
                  <a:rPr lang="en-US" dirty="0"/>
                  <a:t>Formal:</a:t>
                </a:r>
              </a:p>
              <a:p>
                <a:pPr marL="13970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RO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R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RO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R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en-R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supHide m:val="on"/>
                              <m:ctrlPr>
                                <a:rPr lang="en-RO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RO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RO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nary>
                        </m:e>
                        <m:e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sepChr m:val=","/>
                              <m:ctrlPr>
                                <a:rPr lang="en-RO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RO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RO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RO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RO" i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RO" i="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RO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RO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RO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RO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RO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RO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RO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RO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RO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RO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RO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RO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RO"/>
              </a:p>
              <a:p>
                <a:pPr marL="139700" indent="0">
                  <a:lnSpc>
                    <a:spcPct val="150000"/>
                  </a:lnSpc>
                  <a:buNone/>
                </a:pPr>
                <a:endParaRPr lang="en-RO"/>
              </a:p>
              <a:p>
                <a:pPr>
                  <a:lnSpc>
                    <a:spcPct val="150000"/>
                  </a:lnSpc>
                </a:pPr>
                <a:r>
                  <a:rPr lang="en-RO"/>
                  <a:t>Factorul de discount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RO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𝜸</m:t>
                        </m:r>
                      </m:e>
                    </m:d>
                  </m:oMath>
                </a14:m>
                <a:r>
                  <a:rPr lang="en-RO"/>
                  <a:t> va stabili importanța recompensei imediate și a celor viitoare.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RO"/>
                  <a:t>Metoda poate fi utilizată pentru a decide calitatea anumitor stări și acțiuni, ulterior stabilind o metodă de comparație între diverse politici.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1B36AB-2BC4-428A-6357-8AA0690954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41641" y="1342239"/>
                <a:ext cx="7513500" cy="3123553"/>
              </a:xfrm>
              <a:blipFill>
                <a:blip r:embed="rId3"/>
                <a:stretch>
                  <a:fillRect r="-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4459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AD7F-513D-8107-04DC-6D1AFEEA9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7536C2-334A-55C2-EBA2-07DFB54DC15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RO"/>
                  <a:t>Value Function-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RO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RO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RO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en-US" dirty="0"/>
                  <a:t> / V(s)</a:t>
                </a:r>
                <a:endParaRPr lang="en-RO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7536C2-334A-55C2-EBA2-07DFB54DC1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700219D-BA90-D447-FCE2-AE2A691AD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678" y="2080469"/>
            <a:ext cx="6454643" cy="149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2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3EC8D2A-7A9F-B96C-9FEA-653AFE7D90D1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716069" y="73380"/>
                <a:ext cx="7711860" cy="838500"/>
              </a:xfrm>
            </p:spPr>
            <p:txBody>
              <a:bodyPr/>
              <a:lstStyle/>
              <a:p>
                <a:r>
                  <a:rPr lang="en-US" sz="2800" dirty="0"/>
                  <a:t>Cum </a:t>
                </a:r>
                <a:r>
                  <a:rPr lang="en-US" sz="2800" dirty="0" err="1"/>
                  <a:t>calculăm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RO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RO" sz="2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RO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en-US" sz="2800" dirty="0"/>
                  <a:t> / V(s)?</a:t>
                </a:r>
                <a:endParaRPr lang="en-RO" sz="2800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3EC8D2A-7A9F-B96C-9FEA-653AFE7D9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716069" y="73380"/>
                <a:ext cx="7711860" cy="8385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32BD43D-6410-6A0F-DF60-09765AF6FE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128" b="16761"/>
          <a:stretch/>
        </p:blipFill>
        <p:spPr>
          <a:xfrm>
            <a:off x="1238318" y="919200"/>
            <a:ext cx="6667361" cy="2979420"/>
          </a:xfrm>
          <a:prstGeom prst="rect">
            <a:avLst/>
          </a:prstGeom>
        </p:spPr>
      </p:pic>
      <p:sp>
        <p:nvSpPr>
          <p:cNvPr id="5" name="Google Shape;2798;p55">
            <a:extLst>
              <a:ext uri="{FF2B5EF4-FFF2-40B4-BE49-F238E27FC236}">
                <a16:creationId xmlns:a16="http://schemas.microsoft.com/office/drawing/2014/main" id="{ABBE5829-1263-5B84-83B0-33ABB61F903B}"/>
              </a:ext>
            </a:extLst>
          </p:cNvPr>
          <p:cNvSpPr/>
          <p:nvPr/>
        </p:nvSpPr>
        <p:spPr>
          <a:xfrm>
            <a:off x="4183307" y="4005300"/>
            <a:ext cx="3482414" cy="92079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2804;p55">
                <a:extLst>
                  <a:ext uri="{FF2B5EF4-FFF2-40B4-BE49-F238E27FC236}">
                    <a16:creationId xmlns:a16="http://schemas.microsoft.com/office/drawing/2014/main" id="{B1D02C56-187F-68B8-BE8A-1CFE66B71989}"/>
                  </a:ext>
                </a:extLst>
              </p:cNvPr>
              <p:cNvSpPr txBox="1"/>
              <p:nvPr/>
            </p:nvSpPr>
            <p:spPr>
              <a:xfrm>
                <a:off x="4652602" y="3253740"/>
                <a:ext cx="2883578" cy="16723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RO" sz="1600" dirty="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Complexitate </a:t>
                </a:r>
                <a14:m>
                  <m:oMath xmlns:m="http://schemas.openxmlformats.org/officeDocument/2006/math">
                    <m:r>
                      <a:rPr lang="en-RO" sz="16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erriweather"/>
                        <a:cs typeface="Merriweather"/>
                        <a:sym typeface="Merriweather"/>
                      </a:rPr>
                      <m:t>𝑂</m:t>
                    </m:r>
                    <m:r>
                      <a:rPr lang="en-RO" sz="16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erriweather"/>
                        <a:cs typeface="Merriweather"/>
                        <a:sym typeface="Merriweather"/>
                      </a:rPr>
                      <m:t>(</m:t>
                    </m:r>
                    <m:r>
                      <a:rPr lang="en-RO" sz="16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erriweather"/>
                        <a:cs typeface="Merriweather"/>
                        <a:sym typeface="Merriweather"/>
                      </a:rPr>
                      <m:t>𝑁</m:t>
                    </m:r>
                    <m:r>
                      <a:rPr lang="en-RO" sz="1600" i="1" baseline="30000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erriweather"/>
                        <a:cs typeface="Merriweather"/>
                        <a:sym typeface="Merriweather"/>
                      </a:rPr>
                      <m:t>3</m:t>
                    </m:r>
                    <m:r>
                      <a:rPr lang="en-RO" sz="16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Merriweather"/>
                        <a:cs typeface="Merriweather"/>
                        <a:sym typeface="Merriweather"/>
                      </a:rPr>
                      <m:t>)</m:t>
                    </m:r>
                  </m:oMath>
                </a14:m>
                <a:r>
                  <a:rPr lang="en-RO" sz="1600" dirty="0">
                    <a:solidFill>
                      <a:schemeClr val="dk1"/>
                    </a:solidFill>
                    <a:latin typeface="Merriweather"/>
                    <a:ea typeface="Merriweather"/>
                    <a:cs typeface="Merriweather"/>
                    <a:sym typeface="Merriweather"/>
                  </a:rPr>
                  <a:t> – datorată calcului inversei</a:t>
                </a:r>
              </a:p>
            </p:txBody>
          </p:sp>
        </mc:Choice>
        <mc:Fallback xmlns="">
          <p:sp>
            <p:nvSpPr>
              <p:cNvPr id="6" name="Google Shape;2804;p55">
                <a:extLst>
                  <a:ext uri="{FF2B5EF4-FFF2-40B4-BE49-F238E27FC236}">
                    <a16:creationId xmlns:a16="http://schemas.microsoft.com/office/drawing/2014/main" id="{B1D02C56-187F-68B8-BE8A-1CFE66B71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602" y="3253740"/>
                <a:ext cx="2883578" cy="1672354"/>
              </a:xfrm>
              <a:prstGeom prst="rect">
                <a:avLst/>
              </a:prstGeom>
              <a:blipFill>
                <a:blip r:embed="rId4"/>
                <a:stretch>
                  <a:fillRect l="-13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6678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38"/>
          <p:cNvSpPr txBox="1">
            <a:spLocks noGrp="1"/>
          </p:cNvSpPr>
          <p:nvPr>
            <p:ph type="title"/>
          </p:nvPr>
        </p:nvSpPr>
        <p:spPr>
          <a:xfrm>
            <a:off x="2098200" y="2179969"/>
            <a:ext cx="49476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noProof="0" dirty="0"/>
              <a:t>EXEMPLIFICARE </a:t>
            </a:r>
          </a:p>
        </p:txBody>
      </p:sp>
      <p:sp>
        <p:nvSpPr>
          <p:cNvPr id="2217" name="Google Shape;2217;p38"/>
          <p:cNvSpPr/>
          <p:nvPr/>
        </p:nvSpPr>
        <p:spPr>
          <a:xfrm flipH="1">
            <a:off x="1526099" y="926845"/>
            <a:ext cx="336300" cy="327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2218" name="Google Shape;2218;p38"/>
          <p:cNvGrpSpPr/>
          <p:nvPr/>
        </p:nvGrpSpPr>
        <p:grpSpPr>
          <a:xfrm rot="10800000">
            <a:off x="1124208" y="3890592"/>
            <a:ext cx="1728455" cy="905443"/>
            <a:chOff x="7055900" y="279450"/>
            <a:chExt cx="1820576" cy="953700"/>
          </a:xfrm>
        </p:grpSpPr>
        <p:sp>
          <p:nvSpPr>
            <p:cNvPr id="2219" name="Google Shape;2219;p38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0" name="Google Shape;2220;p38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1" name="Google Shape;2221;p38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2" name="Google Shape;2222;p38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3" name="Google Shape;2223;p38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24" name="Google Shape;2224;p38"/>
          <p:cNvSpPr/>
          <p:nvPr/>
        </p:nvSpPr>
        <p:spPr>
          <a:xfrm flipH="1">
            <a:off x="989350" y="586499"/>
            <a:ext cx="245400" cy="2385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25" name="Google Shape;2225;p38"/>
          <p:cNvSpPr/>
          <p:nvPr/>
        </p:nvSpPr>
        <p:spPr>
          <a:xfrm flipH="1">
            <a:off x="3868125" y="4302574"/>
            <a:ext cx="245400" cy="2385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012701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A4949-1C85-E620-22CB-AF759B8A1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2FE545EE-66A0-C024-9068-04E8E1464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177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68600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5FFA9-F758-391A-1427-6CD5D3495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9DA5E7FB-829C-98DE-78EB-30EA3C830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48" y="879137"/>
            <a:ext cx="5611011" cy="3385225"/>
          </a:xfrm>
          <a:prstGeom prst="rect">
            <a:avLst/>
          </a:prstGeom>
        </p:spPr>
      </p:pic>
      <p:pic>
        <p:nvPicPr>
          <p:cNvPr id="5" name="Picture 4" descr="A black rectangular object with letters and numbers&#10;&#10;AI-generated content may be incorrect.">
            <a:extLst>
              <a:ext uri="{FF2B5EF4-FFF2-40B4-BE49-F238E27FC236}">
                <a16:creationId xmlns:a16="http://schemas.microsoft.com/office/drawing/2014/main" id="{E74047ED-D8B3-0B4C-D0BB-796CB035B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512" y="1535418"/>
            <a:ext cx="2395540" cy="2072663"/>
          </a:xfrm>
          <a:prstGeom prst="rect">
            <a:avLst/>
          </a:prstGeom>
        </p:spPr>
      </p:pic>
      <p:pic>
        <p:nvPicPr>
          <p:cNvPr id="7" name="Graphic 6" descr="Arrow: Rotate right with solid fill">
            <a:extLst>
              <a:ext uri="{FF2B5EF4-FFF2-40B4-BE49-F238E27FC236}">
                <a16:creationId xmlns:a16="http://schemas.microsoft.com/office/drawing/2014/main" id="{41B42211-A15B-B386-B33E-9E1A8AED37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9606" y="-50001"/>
            <a:ext cx="2025676" cy="185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436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6A8FC-7C65-BB9B-38EC-5C16B9060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B69F7-47C4-042D-39DB-1CAAF4318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Ecuația</a:t>
            </a:r>
            <a:r>
              <a:rPr lang="en-US" dirty="0"/>
              <a:t> Bellman – V* (</a:t>
            </a:r>
            <a:r>
              <a:rPr lang="en-US" dirty="0" err="1"/>
              <a:t>optim</a:t>
            </a:r>
            <a:r>
              <a:rPr lang="en-US" dirty="0"/>
              <a:t>)</a:t>
            </a:r>
            <a:endParaRPr lang="en-RO"/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112A54F-4A3D-D0C8-4DFD-02C83013B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00" y="1966360"/>
            <a:ext cx="8051594" cy="167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466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7" name="Google Shape;2987;p61"/>
          <p:cNvSpPr/>
          <p:nvPr/>
        </p:nvSpPr>
        <p:spPr>
          <a:xfrm>
            <a:off x="2268625" y="341000"/>
            <a:ext cx="4609200" cy="260893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988" name="Google Shape;2988;p61"/>
          <p:cNvSpPr txBox="1">
            <a:spLocks noGrp="1"/>
          </p:cNvSpPr>
          <p:nvPr>
            <p:ph type="title"/>
          </p:nvPr>
        </p:nvSpPr>
        <p:spPr>
          <a:xfrm>
            <a:off x="2637725" y="387576"/>
            <a:ext cx="3866700" cy="85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 err="1"/>
              <a:t>Thanks</a:t>
            </a:r>
            <a:r>
              <a:rPr lang="ro-RO" noProof="0" dirty="0"/>
              <a:t>!</a:t>
            </a:r>
          </a:p>
        </p:txBody>
      </p:sp>
      <p:sp>
        <p:nvSpPr>
          <p:cNvPr id="2989" name="Google Shape;2989;p61"/>
          <p:cNvSpPr txBox="1">
            <a:spLocks noGrp="1"/>
          </p:cNvSpPr>
          <p:nvPr>
            <p:ph type="subTitle" idx="1"/>
          </p:nvPr>
        </p:nvSpPr>
        <p:spPr>
          <a:xfrm>
            <a:off x="2981375" y="1154172"/>
            <a:ext cx="3179400" cy="11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Este timpul pentru întrebări!!!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lang="ro-RO" noProof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Acum…sau pe email: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lang="ro-RO" noProof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stefan.iordache10@s.unibuc.ro </a:t>
            </a:r>
          </a:p>
        </p:txBody>
      </p:sp>
      <p:grpSp>
        <p:nvGrpSpPr>
          <p:cNvPr id="3011" name="Google Shape;3011;p61"/>
          <p:cNvGrpSpPr/>
          <p:nvPr/>
        </p:nvGrpSpPr>
        <p:grpSpPr>
          <a:xfrm flipH="1">
            <a:off x="6877836" y="1091403"/>
            <a:ext cx="1142790" cy="1480405"/>
            <a:chOff x="7465916" y="720492"/>
            <a:chExt cx="1139144" cy="1477450"/>
          </a:xfrm>
        </p:grpSpPr>
        <p:sp>
          <p:nvSpPr>
            <p:cNvPr id="3012" name="Google Shape;3012;p61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3" name="Google Shape;3013;p61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4" name="Google Shape;3014;p61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5" name="Google Shape;3015;p61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6" name="Google Shape;3016;p61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7" name="Google Shape;3017;p61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3018" name="Google Shape;3018;p61"/>
          <p:cNvGrpSpPr/>
          <p:nvPr/>
        </p:nvGrpSpPr>
        <p:grpSpPr>
          <a:xfrm rot="10800000" flipH="1">
            <a:off x="391698" y="579321"/>
            <a:ext cx="1764041" cy="758764"/>
            <a:chOff x="6659230" y="279450"/>
            <a:chExt cx="2217246" cy="953700"/>
          </a:xfrm>
        </p:grpSpPr>
        <p:sp>
          <p:nvSpPr>
            <p:cNvPr id="3019" name="Google Shape;3019;p61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0" name="Google Shape;3020;p61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1" name="Google Shape;3021;p61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2" name="Google Shape;3022;p61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3" name="Google Shape;3023;p61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3024" name="Google Shape;3024;p61"/>
          <p:cNvSpPr/>
          <p:nvPr/>
        </p:nvSpPr>
        <p:spPr>
          <a:xfrm flipH="1">
            <a:off x="7818180" y="883420"/>
            <a:ext cx="429900" cy="4182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3025" name="Google Shape;3025;p61"/>
          <p:cNvGrpSpPr/>
          <p:nvPr/>
        </p:nvGrpSpPr>
        <p:grpSpPr>
          <a:xfrm>
            <a:off x="1839602" y="1617067"/>
            <a:ext cx="637648" cy="658500"/>
            <a:chOff x="1839602" y="1617067"/>
            <a:chExt cx="637648" cy="658500"/>
          </a:xfrm>
        </p:grpSpPr>
        <p:sp>
          <p:nvSpPr>
            <p:cNvPr id="3026" name="Google Shape;3026;p61"/>
            <p:cNvSpPr/>
            <p:nvPr/>
          </p:nvSpPr>
          <p:spPr>
            <a:xfrm flipH="1">
              <a:off x="2047351" y="1617067"/>
              <a:ext cx="429900" cy="4182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7" name="Google Shape;3027;p61"/>
            <p:cNvSpPr/>
            <p:nvPr/>
          </p:nvSpPr>
          <p:spPr>
            <a:xfrm flipH="1">
              <a:off x="1839602" y="2035267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3028" name="Google Shape;3028;p61"/>
          <p:cNvSpPr/>
          <p:nvPr/>
        </p:nvSpPr>
        <p:spPr>
          <a:xfrm flipH="1">
            <a:off x="975250" y="4294400"/>
            <a:ext cx="281100" cy="2736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ph Paper Style Thesis by Slidesgo">
  <a:themeElements>
    <a:clrScheme name="Simple Light">
      <a:dk1>
        <a:srgbClr val="434343"/>
      </a:dk1>
      <a:lt1>
        <a:srgbClr val="F3F3F3"/>
      </a:lt1>
      <a:dk2>
        <a:srgbClr val="B7B7B7"/>
      </a:dk2>
      <a:lt2>
        <a:srgbClr val="859477"/>
      </a:lt2>
      <a:accent1>
        <a:srgbClr val="D9997D"/>
      </a:accent1>
      <a:accent2>
        <a:srgbClr val="F2C2A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06dbadc-5ebd-4821-b299-ce6b9eaad42b">
      <Terms xmlns="http://schemas.microsoft.com/office/infopath/2007/PartnerControls"/>
    </lcf76f155ced4ddcb4097134ff3c332f>
    <TaxCatchAll xmlns="a519f88a-14ae-4969-bd47-81d0c9591b2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3E6573EBEF95419FE5CDD911A166BF" ma:contentTypeVersion="15" ma:contentTypeDescription="Create a new document." ma:contentTypeScope="" ma:versionID="d24b5e8460b670d5001f38c76465b885">
  <xsd:schema xmlns:xsd="http://www.w3.org/2001/XMLSchema" xmlns:xs="http://www.w3.org/2001/XMLSchema" xmlns:p="http://schemas.microsoft.com/office/2006/metadata/properties" xmlns:ns2="d06dbadc-5ebd-4821-b299-ce6b9eaad42b" xmlns:ns3="a519f88a-14ae-4969-bd47-81d0c9591b2c" targetNamespace="http://schemas.microsoft.com/office/2006/metadata/properties" ma:root="true" ma:fieldsID="c7537ff7f3acdbf5ba368d7f81427441" ns2:_="" ns3:_="">
    <xsd:import namespace="d06dbadc-5ebd-4821-b299-ce6b9eaad42b"/>
    <xsd:import namespace="a519f88a-14ae-4969-bd47-81d0c9591b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6dbadc-5ebd-4821-b299-ce6b9eaad4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cd9f51-4d1e-4d57-bf3d-f118fc5c8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19f88a-14ae-4969-bd47-81d0c9591b2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917cf12-c4b0-4164-92f7-80e199fa05bf}" ma:internalName="TaxCatchAll" ma:showField="CatchAllData" ma:web="a519f88a-14ae-4969-bd47-81d0c9591b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3E75CE-3BD1-43CB-9ABA-27E9F8EDA5E1}">
  <ds:schemaRefs>
    <ds:schemaRef ds:uri="a519f88a-14ae-4969-bd47-81d0c9591b2c"/>
    <ds:schemaRef ds:uri="d06dbadc-5ebd-4821-b299-ce6b9eaad42b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5DDB2D4-D430-41A8-B7BE-4AD728CA07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B307D8-BE51-47F1-8CE1-EFCB75105055}"/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869</Words>
  <Application>Microsoft Macintosh PowerPoint</Application>
  <PresentationFormat>On-screen Show (16:9)</PresentationFormat>
  <Paragraphs>130</Paragraphs>
  <Slides>28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Spectral</vt:lpstr>
      <vt:lpstr>Merriweather</vt:lpstr>
      <vt:lpstr>Spectral Light</vt:lpstr>
      <vt:lpstr>Merriweather;900</vt:lpstr>
      <vt:lpstr>Arial</vt:lpstr>
      <vt:lpstr>Cambria Math</vt:lpstr>
      <vt:lpstr>Merriweather Black</vt:lpstr>
      <vt:lpstr>Graph Paper Style Thesis by Slidesgo</vt:lpstr>
      <vt:lpstr>Introducere în Reinforcement Learning</vt:lpstr>
      <vt:lpstr>Cuprins</vt:lpstr>
      <vt:lpstr>Concepte generale</vt:lpstr>
      <vt:lpstr>Diagrama generică - RL</vt:lpstr>
      <vt:lpstr>PowerPoint Presentation</vt:lpstr>
      <vt:lpstr>RL – Scenariul #1 – Energie</vt:lpstr>
      <vt:lpstr>RL – Scenariul #2 – Trafic</vt:lpstr>
      <vt:lpstr>Istoricul observațiilor</vt:lpstr>
      <vt:lpstr>Procese Stochastice</vt:lpstr>
      <vt:lpstr>Procese Markov</vt:lpstr>
      <vt:lpstr>Procese Markov – Definiție</vt:lpstr>
      <vt:lpstr>Procese Markov - Ordine</vt:lpstr>
      <vt:lpstr>Procese Markov – Staționaritate</vt:lpstr>
      <vt:lpstr>Întrebări naturale…</vt:lpstr>
      <vt:lpstr>Despre decizii</vt:lpstr>
      <vt:lpstr>Procese Decizionale Markov (MDP)</vt:lpstr>
      <vt:lpstr>Algoritmi RL</vt:lpstr>
      <vt:lpstr>Algoritmi RL</vt:lpstr>
      <vt:lpstr>Modelul</vt:lpstr>
      <vt:lpstr>Politica (Policy) - π</vt:lpstr>
      <vt:lpstr>Value Function- V^π / V(s)</vt:lpstr>
      <vt:lpstr>Value Function- V^π / V(s)</vt:lpstr>
      <vt:lpstr>Cum calculăm V^π / V(s)?</vt:lpstr>
      <vt:lpstr>EXEMPLIFICARE </vt:lpstr>
      <vt:lpstr>PowerPoint Presentation</vt:lpstr>
      <vt:lpstr>PowerPoint Presentation</vt:lpstr>
      <vt:lpstr>Ecuația Bellman – V* (optim)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Introducere în Reinforcement Learning</dc:title>
  <cp:lastModifiedBy>Stefan Iordache</cp:lastModifiedBy>
  <cp:revision>13</cp:revision>
  <dcterms:modified xsi:type="dcterms:W3CDTF">2025-10-22T11:00:47Z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0x010100F33E6573EBEF95419FE5CDD911A166BF</vt:lpwstr>
  </property>
  <property fmtid="{D5CDD505-2E9C-101B-9397-08002B2CF9AE}" pid="3" name="MediaServiceImageTags">
    <vt:lpwstr/>
  </property>
</Properties>
</file>